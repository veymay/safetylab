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1430000" cy="11410950"/>
  <p:notesSz cx="11430000" cy="11410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566"/>
    <a:srgbClr val="0D0D2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06" autoAdjust="0"/>
    <p:restoredTop sz="94660" autoAdjust="0"/>
  </p:normalViewPr>
  <p:slideViewPr>
    <p:cSldViewPr>
      <p:cViewPr>
        <p:scale>
          <a:sx n="33" d="100"/>
          <a:sy n="33" d="100"/>
        </p:scale>
        <p:origin x="1914" y="35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323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5715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5715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42BC9-58A3-429E-912F-C9A57E06C80F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786188" y="1427163"/>
            <a:ext cx="3857625" cy="3849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143000" y="5491163"/>
            <a:ext cx="9144000" cy="44942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839450"/>
            <a:ext cx="4953000" cy="5715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473825" y="10839450"/>
            <a:ext cx="4953000" cy="5715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554E3-FF05-41DA-AACD-AA2CD339E0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97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554E3-FF05-41DA-AACD-AA2CD339E0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03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554E3-FF05-41DA-AACD-AA2CD339E0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83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679100"/>
            <a:ext cx="5887720" cy="475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499" y="1819274"/>
            <a:ext cx="10287000" cy="3567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CB1164F-6A1F-477B-AA51-0E6E23BB2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2" y="2149477"/>
            <a:ext cx="10363197" cy="6908798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0"/>
            <a:ext cx="11429999" cy="11410950"/>
            <a:chOff x="0" y="0"/>
            <a:chExt cx="11429999" cy="6438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899"/>
                  </a:moveTo>
                  <a:lnTo>
                    <a:pt x="7143749" y="6438899"/>
                  </a:lnTo>
                  <a:lnTo>
                    <a:pt x="7143749" y="0"/>
                  </a:lnTo>
                  <a:lnTo>
                    <a:pt x="0" y="0"/>
                  </a:lnTo>
                  <a:lnTo>
                    <a:pt x="0" y="643889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43749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49" y="6438899"/>
                  </a:moveTo>
                  <a:lnTo>
                    <a:pt x="0" y="6438899"/>
                  </a:lnTo>
                  <a:lnTo>
                    <a:pt x="0" y="0"/>
                  </a:lnTo>
                  <a:lnTo>
                    <a:pt x="4286249" y="0"/>
                  </a:lnTo>
                  <a:lnTo>
                    <a:pt x="4286249" y="643889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48" y="1413548"/>
              <a:ext cx="4133849" cy="313970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87374" y="3267075"/>
            <a:ext cx="4133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5" dirty="0" err="1"/>
              <a:t>SafetyLab</a:t>
            </a:r>
            <a:endParaRPr spc="-15" dirty="0"/>
          </a:p>
        </p:txBody>
      </p:sp>
      <p:sp>
        <p:nvSpPr>
          <p:cNvPr id="9" name="object 9"/>
          <p:cNvSpPr txBox="1"/>
          <p:nvPr/>
        </p:nvSpPr>
        <p:spPr>
          <a:xfrm>
            <a:off x="587374" y="4670456"/>
            <a:ext cx="6403972" cy="2902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400" cap="small" spc="65" dirty="0" err="1">
                <a:solidFill>
                  <a:srgbClr val="FFFFFF"/>
                </a:solidFill>
                <a:latin typeface="Roboto Lt"/>
                <a:cs typeface="Roboto Lt"/>
              </a:rPr>
              <a:t>X</a:t>
            </a:r>
            <a:r>
              <a:rPr sz="4400" spc="65" dirty="0" err="1">
                <a:solidFill>
                  <a:srgbClr val="FFFFFF"/>
                </a:solidFill>
                <a:latin typeface="Roboto Lt"/>
                <a:cs typeface="Roboto Lt"/>
              </a:rPr>
              <a:t>avfni</a:t>
            </a:r>
            <a:r>
              <a:rPr sz="4400" spc="-1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4400" dirty="0" err="1">
                <a:solidFill>
                  <a:srgbClr val="FFFFFF"/>
                </a:solidFill>
                <a:latin typeface="Roboto Lt"/>
                <a:cs typeface="Roboto Lt"/>
              </a:rPr>
              <a:t>kutmang</a:t>
            </a:r>
            <a:r>
              <a:rPr sz="4400" spc="-1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lang="en-US" sz="4400" spc="-110" dirty="0">
                <a:solidFill>
                  <a:srgbClr val="FFFFFF"/>
                </a:solidFill>
                <a:latin typeface="Roboto Lt"/>
                <a:cs typeface="Roboto Lt"/>
              </a:rPr>
              <a:t>-</a:t>
            </a:r>
            <a:r>
              <a:rPr sz="4400" spc="-1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Roboto Lt"/>
                <a:cs typeface="Roboto Lt"/>
              </a:rPr>
              <a:t>uni</a:t>
            </a:r>
            <a:endParaRPr sz="4400" dirty="0">
              <a:latin typeface="Roboto Lt"/>
              <a:cs typeface="Roboto Lt"/>
            </a:endParaRPr>
          </a:p>
          <a:p>
            <a:pPr marL="12700" marR="199390">
              <a:lnSpc>
                <a:spcPct val="103400"/>
              </a:lnSpc>
              <a:spcBef>
                <a:spcPts val="75"/>
              </a:spcBef>
            </a:pPr>
            <a:r>
              <a:rPr sz="4400" dirty="0">
                <a:solidFill>
                  <a:srgbClr val="FFFFFF"/>
                </a:solidFill>
                <a:latin typeface="Roboto Lt"/>
                <a:cs typeface="Roboto Lt"/>
              </a:rPr>
              <a:t>xavfsiz</a:t>
            </a:r>
            <a:r>
              <a:rPr sz="4400" spc="-16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4400" dirty="0">
                <a:solidFill>
                  <a:srgbClr val="FFFFFF"/>
                </a:solidFill>
                <a:latin typeface="Roboto Lt"/>
                <a:cs typeface="Roboto Lt"/>
              </a:rPr>
              <a:t>muhitda</a:t>
            </a:r>
            <a:r>
              <a:rPr sz="4400" spc="-16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Roboto Lt"/>
                <a:cs typeface="Roboto Lt"/>
              </a:rPr>
              <a:t>mashq qiling.</a:t>
            </a:r>
            <a:endParaRPr sz="44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1895"/>
              </a:spcBef>
            </a:pP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Real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xavfni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kutmasdan,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uni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virtual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muhitda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boshdan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kechiring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yordamida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to'g'ri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harakat</a:t>
            </a:r>
            <a:r>
              <a:rPr sz="1200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qilishni</a:t>
            </a:r>
            <a:r>
              <a:rPr sz="1200" spc="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o'rganing.</a:t>
            </a:r>
            <a:r>
              <a:rPr sz="1200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AI-powered</a:t>
            </a:r>
            <a:r>
              <a:rPr sz="1200" b="1" spc="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Industrial</a:t>
            </a:r>
            <a:r>
              <a:rPr sz="1200" b="1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200" b="1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Training</a:t>
            </a:r>
            <a:r>
              <a:rPr sz="1200" b="1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CFD0D8"/>
                </a:solidFill>
                <a:latin typeface="Roboto"/>
                <a:cs typeface="Roboto"/>
              </a:rPr>
              <a:t>Platform.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55168A-4B5A-4541-9B9C-5FB5C17005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903" y="2961184"/>
            <a:ext cx="1352547" cy="13525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0C56D18-7744-43E0-B215-ABC2E5B8F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2" y="2149477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0"/>
            <a:ext cx="11430000" cy="1141095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4837" y="3490912"/>
            <a:ext cx="1047750" cy="219075"/>
          </a:xfrm>
          <a:custGeom>
            <a:avLst/>
            <a:gdLst/>
            <a:ahLst/>
            <a:cxnLst/>
            <a:rect l="l" t="t" r="r" b="b"/>
            <a:pathLst>
              <a:path w="1047750" h="219075">
                <a:moveTo>
                  <a:pt x="0" y="181832"/>
                </a:moveTo>
                <a:lnTo>
                  <a:pt x="0" y="37242"/>
                </a:lnTo>
                <a:lnTo>
                  <a:pt x="0" y="32303"/>
                </a:lnTo>
                <a:lnTo>
                  <a:pt x="944" y="27553"/>
                </a:lnTo>
                <a:lnTo>
                  <a:pt x="2834" y="22990"/>
                </a:lnTo>
                <a:lnTo>
                  <a:pt x="4724" y="18427"/>
                </a:lnTo>
                <a:lnTo>
                  <a:pt x="7415" y="14400"/>
                </a:lnTo>
                <a:lnTo>
                  <a:pt x="10908" y="10908"/>
                </a:lnTo>
                <a:lnTo>
                  <a:pt x="14400" y="7415"/>
                </a:lnTo>
                <a:lnTo>
                  <a:pt x="18427" y="4724"/>
                </a:lnTo>
                <a:lnTo>
                  <a:pt x="22990" y="2834"/>
                </a:lnTo>
                <a:lnTo>
                  <a:pt x="27553" y="944"/>
                </a:lnTo>
                <a:lnTo>
                  <a:pt x="32304" y="0"/>
                </a:lnTo>
                <a:lnTo>
                  <a:pt x="37242" y="0"/>
                </a:lnTo>
                <a:lnTo>
                  <a:pt x="1010507" y="0"/>
                </a:lnTo>
                <a:lnTo>
                  <a:pt x="1015445" y="0"/>
                </a:lnTo>
                <a:lnTo>
                  <a:pt x="1020196" y="944"/>
                </a:lnTo>
                <a:lnTo>
                  <a:pt x="1024759" y="2834"/>
                </a:lnTo>
                <a:lnTo>
                  <a:pt x="1029321" y="4724"/>
                </a:lnTo>
                <a:lnTo>
                  <a:pt x="1044914" y="22990"/>
                </a:lnTo>
                <a:lnTo>
                  <a:pt x="1046804" y="27553"/>
                </a:lnTo>
                <a:lnTo>
                  <a:pt x="1047749" y="32303"/>
                </a:lnTo>
                <a:lnTo>
                  <a:pt x="1047749" y="37242"/>
                </a:lnTo>
                <a:lnTo>
                  <a:pt x="1047749" y="181832"/>
                </a:lnTo>
                <a:lnTo>
                  <a:pt x="1047749" y="186770"/>
                </a:lnTo>
                <a:lnTo>
                  <a:pt x="1046804" y="191521"/>
                </a:lnTo>
                <a:lnTo>
                  <a:pt x="1044914" y="196084"/>
                </a:lnTo>
                <a:lnTo>
                  <a:pt x="1043024" y="200646"/>
                </a:lnTo>
                <a:lnTo>
                  <a:pt x="1015445" y="219074"/>
                </a:lnTo>
                <a:lnTo>
                  <a:pt x="1010507" y="219074"/>
                </a:lnTo>
                <a:lnTo>
                  <a:pt x="37242" y="219074"/>
                </a:lnTo>
                <a:lnTo>
                  <a:pt x="32304" y="219074"/>
                </a:lnTo>
                <a:lnTo>
                  <a:pt x="27553" y="218129"/>
                </a:lnTo>
                <a:lnTo>
                  <a:pt x="2834" y="196084"/>
                </a:lnTo>
                <a:lnTo>
                  <a:pt x="944" y="191521"/>
                </a:lnTo>
                <a:lnTo>
                  <a:pt x="0" y="186770"/>
                </a:lnTo>
                <a:lnTo>
                  <a:pt x="0" y="181832"/>
                </a:lnTo>
                <a:close/>
              </a:path>
            </a:pathLst>
          </a:custGeom>
          <a:ln w="9524">
            <a:solidFill>
              <a:srgbClr val="596E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267" y="3505835"/>
            <a:ext cx="90106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0" dirty="0">
                <a:solidFill>
                  <a:srgbClr val="596ED8"/>
                </a:solidFill>
                <a:latin typeface="Roboto"/>
                <a:cs typeface="Roboto"/>
              </a:rPr>
              <a:t>LOYIHA</a:t>
            </a:r>
            <a:r>
              <a:rPr sz="950" dirty="0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sz="950" spc="-10" dirty="0">
                <a:solidFill>
                  <a:srgbClr val="596ED8"/>
                </a:solidFill>
                <a:latin typeface="Roboto"/>
                <a:cs typeface="Roboto"/>
              </a:rPr>
              <a:t>HAQIDA</a:t>
            </a:r>
            <a:endParaRPr sz="950" dirty="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3746150"/>
            <a:ext cx="2050414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Biz</a:t>
            </a:r>
            <a:r>
              <a:rPr spc="-65" dirty="0"/>
              <a:t> </a:t>
            </a:r>
            <a:r>
              <a:rPr spc="-10" dirty="0"/>
              <a:t>kimmiz?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4" y="4417853"/>
            <a:ext cx="10165715" cy="469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lang="en-US" sz="1150" spc="20" dirty="0" err="1">
                <a:solidFill>
                  <a:srgbClr val="CFD0D8"/>
                </a:solidFill>
                <a:latin typeface="Roboto"/>
                <a:cs typeface="Roboto"/>
              </a:rPr>
              <a:t>SafetyLab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sanoat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xodimlarini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xavfli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nostandart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vaziyatlarda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amaliy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tayyorlash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uchun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VR/XR</a:t>
            </a:r>
            <a:r>
              <a:rPr sz="1150" b="1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b="1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sun'iy</a:t>
            </a:r>
            <a:r>
              <a:rPr sz="1150" b="1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intellektni</a:t>
            </a:r>
            <a:r>
              <a:rPr sz="1150" b="1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birlashtiruvchi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intellektual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o'qitish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platformasi.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Biz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bilimni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emas,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xavfli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vaziyatdagi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harakatni</a:t>
            </a:r>
            <a:r>
              <a:rPr sz="1150" b="1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o'lchaymiz.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1531" y="5165862"/>
            <a:ext cx="392430" cy="273685"/>
            <a:chOff x="591531" y="2775087"/>
            <a:chExt cx="392430" cy="2736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075" y="2775087"/>
              <a:ext cx="68341" cy="853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7342" y="2783428"/>
              <a:ext cx="40005" cy="41275"/>
            </a:xfrm>
            <a:custGeom>
              <a:avLst/>
              <a:gdLst/>
              <a:ahLst/>
              <a:cxnLst/>
              <a:rect l="l" t="t" r="r" b="b"/>
              <a:pathLst>
                <a:path w="40004" h="41275">
                  <a:moveTo>
                    <a:pt x="39540" y="0"/>
                  </a:moveTo>
                  <a:lnTo>
                    <a:pt x="14323" y="22258"/>
                  </a:lnTo>
                  <a:lnTo>
                    <a:pt x="0" y="40997"/>
                  </a:lnTo>
                </a:path>
              </a:pathLst>
            </a:custGeom>
            <a:ln w="16602">
              <a:solidFill>
                <a:srgbClr val="596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663" y="2958213"/>
              <a:ext cx="164624" cy="897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0316" y="2824210"/>
              <a:ext cx="375285" cy="192405"/>
            </a:xfrm>
            <a:custGeom>
              <a:avLst/>
              <a:gdLst/>
              <a:ahLst/>
              <a:cxnLst/>
              <a:rect l="l" t="t" r="r" b="b"/>
              <a:pathLst>
                <a:path w="375284" h="192405">
                  <a:moveTo>
                    <a:pt x="0" y="19717"/>
                  </a:moveTo>
                  <a:lnTo>
                    <a:pt x="546" y="15420"/>
                  </a:lnTo>
                  <a:lnTo>
                    <a:pt x="1960" y="10652"/>
                  </a:lnTo>
                  <a:lnTo>
                    <a:pt x="4112" y="6685"/>
                  </a:lnTo>
                  <a:lnTo>
                    <a:pt x="8900" y="102"/>
                  </a:lnTo>
                </a:path>
                <a:path w="375284" h="192405">
                  <a:moveTo>
                    <a:pt x="365558" y="0"/>
                  </a:moveTo>
                  <a:lnTo>
                    <a:pt x="8900" y="102"/>
                  </a:lnTo>
                </a:path>
                <a:path w="375284" h="192405">
                  <a:moveTo>
                    <a:pt x="374799" y="27910"/>
                  </a:moveTo>
                  <a:lnTo>
                    <a:pt x="374741" y="192366"/>
                  </a:lnTo>
                </a:path>
              </a:pathLst>
            </a:custGeom>
            <a:ln w="16602">
              <a:solidFill>
                <a:srgbClr val="596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856" y="2869873"/>
              <a:ext cx="114157" cy="1141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6883" y="2783389"/>
              <a:ext cx="276860" cy="635"/>
            </a:xfrm>
            <a:custGeom>
              <a:avLst/>
              <a:gdLst/>
              <a:ahLst/>
              <a:cxnLst/>
              <a:rect l="l" t="t" r="r" b="b"/>
              <a:pathLst>
                <a:path w="276859" h="635">
                  <a:moveTo>
                    <a:pt x="276493" y="0"/>
                  </a:moveTo>
                  <a:lnTo>
                    <a:pt x="0" y="39"/>
                  </a:lnTo>
                </a:path>
              </a:pathLst>
            </a:custGeom>
            <a:ln w="16602">
              <a:solidFill>
                <a:srgbClr val="596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950" y="2869675"/>
              <a:ext cx="173530" cy="178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531" y="2843928"/>
              <a:ext cx="122433" cy="2041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87374" y="5648197"/>
            <a:ext cx="2822575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450" cap="small" dirty="0">
                <a:solidFill>
                  <a:srgbClr val="CFD0D8"/>
                </a:solidFill>
                <a:latin typeface="Roboto Lt"/>
                <a:cs typeface="Roboto Lt"/>
              </a:rPr>
              <a:t>i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mmersive</a:t>
            </a:r>
            <a:r>
              <a:rPr sz="1450" spc="8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Training</a:t>
            </a:r>
            <a:endParaRPr sz="1450" dirty="0">
              <a:latin typeface="Roboto Lt"/>
              <a:cs typeface="Roboto Lt"/>
            </a:endParaRPr>
          </a:p>
          <a:p>
            <a:pPr marL="12700" marR="5080" algn="just">
              <a:lnSpc>
                <a:spcPct val="137700"/>
              </a:lnSpc>
              <a:spcBef>
                <a:spcPts val="59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Xodim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xavfli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vaziyatni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virtual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muhitda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FD0D8"/>
                </a:solidFill>
                <a:latin typeface="Roboto"/>
                <a:cs typeface="Roboto"/>
              </a:rPr>
              <a:t>real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jarayonga yaqin</a:t>
            </a:r>
            <a:r>
              <a:rPr sz="11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tarzda boshdan</a:t>
            </a:r>
            <a:r>
              <a:rPr sz="11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kechiradi.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Stress,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vaqt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bosimi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nostandart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holatlar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simulyatsiya</a:t>
            </a:r>
            <a:r>
              <a:rPr sz="11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qilinadi.</a:t>
            </a:r>
            <a:endParaRPr sz="1150" dirty="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68251" y="5128795"/>
            <a:ext cx="391798" cy="34730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059832" y="5648197"/>
            <a:ext cx="326199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60" dirty="0">
                <a:solidFill>
                  <a:srgbClr val="CFD0D8"/>
                </a:solidFill>
                <a:latin typeface="Roboto Lt"/>
                <a:cs typeface="Roboto Lt"/>
              </a:rPr>
              <a:t>A</a:t>
            </a:r>
            <a:r>
              <a:rPr sz="1450" cap="small" spc="60" dirty="0">
                <a:solidFill>
                  <a:srgbClr val="CFD0D8"/>
                </a:solidFill>
                <a:latin typeface="Roboto Lt"/>
                <a:cs typeface="Roboto Lt"/>
              </a:rPr>
              <a:t>i</a:t>
            </a:r>
            <a:r>
              <a:rPr sz="1450" spc="9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cap="small" dirty="0">
                <a:solidFill>
                  <a:srgbClr val="CFD0D8"/>
                </a:solidFill>
                <a:latin typeface="Roboto Lt"/>
                <a:cs typeface="Roboto Lt"/>
              </a:rPr>
              <a:t>s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afety</a:t>
            </a:r>
            <a:r>
              <a:rPr sz="1450" spc="10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Mentor</a:t>
            </a:r>
            <a:endParaRPr sz="1450" dirty="0">
              <a:latin typeface="Roboto Lt"/>
              <a:cs typeface="Roboto Lt"/>
            </a:endParaRPr>
          </a:p>
          <a:p>
            <a:pPr marL="12700" marR="5080">
              <a:lnSpc>
                <a:spcPct val="138600"/>
              </a:lnSpc>
              <a:spcBef>
                <a:spcPts val="57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xodimning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qarorlari,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harakatlari,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xatolari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va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reaksiyasini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real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vaqtga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yaqin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tahlil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qiladi.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Har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bir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harakat qayd</a:t>
            </a:r>
            <a:r>
              <a:rPr sz="11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etiladi va</a:t>
            </a:r>
            <a:r>
              <a:rPr sz="11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baholanadi.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43800" y="5116439"/>
            <a:ext cx="375285" cy="372110"/>
          </a:xfrm>
          <a:custGeom>
            <a:avLst/>
            <a:gdLst/>
            <a:ahLst/>
            <a:cxnLst/>
            <a:rect l="l" t="t" r="r" b="b"/>
            <a:pathLst>
              <a:path w="375284" h="372110">
                <a:moveTo>
                  <a:pt x="368900" y="360430"/>
                </a:moveTo>
                <a:lnTo>
                  <a:pt x="348640" y="371690"/>
                </a:lnTo>
                <a:lnTo>
                  <a:pt x="345038" y="371913"/>
                </a:lnTo>
              </a:path>
              <a:path w="375284" h="372110">
                <a:moveTo>
                  <a:pt x="33922" y="372017"/>
                </a:moveTo>
                <a:lnTo>
                  <a:pt x="968" y="349655"/>
                </a:lnTo>
                <a:lnTo>
                  <a:pt x="77" y="343908"/>
                </a:lnTo>
                <a:lnTo>
                  <a:pt x="12" y="332005"/>
                </a:lnTo>
              </a:path>
              <a:path w="375284" h="372110">
                <a:moveTo>
                  <a:pt x="0" y="31471"/>
                </a:moveTo>
                <a:lnTo>
                  <a:pt x="23828" y="660"/>
                </a:lnTo>
                <a:lnTo>
                  <a:pt x="28937" y="44"/>
                </a:lnTo>
                <a:lnTo>
                  <a:pt x="40165" y="0"/>
                </a:lnTo>
              </a:path>
              <a:path w="375284" h="372110">
                <a:moveTo>
                  <a:pt x="344375" y="57"/>
                </a:moveTo>
                <a:lnTo>
                  <a:pt x="374992" y="27974"/>
                </a:lnTo>
                <a:lnTo>
                  <a:pt x="375046" y="38414"/>
                </a:lnTo>
              </a:path>
              <a:path w="375284" h="372110">
                <a:moveTo>
                  <a:pt x="374999" y="342732"/>
                </a:moveTo>
                <a:lnTo>
                  <a:pt x="369677" y="359460"/>
                </a:lnTo>
                <a:lnTo>
                  <a:pt x="368900" y="360430"/>
                </a:lnTo>
              </a:path>
              <a:path w="375284" h="372110">
                <a:moveTo>
                  <a:pt x="109108" y="66478"/>
                </a:moveTo>
                <a:lnTo>
                  <a:pt x="85787" y="89799"/>
                </a:lnTo>
                <a:lnTo>
                  <a:pt x="82695" y="89799"/>
                </a:lnTo>
                <a:lnTo>
                  <a:pt x="69297" y="82968"/>
                </a:lnTo>
                <a:lnTo>
                  <a:pt x="67110" y="80781"/>
                </a:lnTo>
                <a:lnTo>
                  <a:pt x="65425" y="78259"/>
                </a:lnTo>
                <a:lnTo>
                  <a:pt x="64241" y="75402"/>
                </a:lnTo>
                <a:lnTo>
                  <a:pt x="63058" y="72545"/>
                </a:lnTo>
                <a:lnTo>
                  <a:pt x="62466" y="69570"/>
                </a:lnTo>
                <a:lnTo>
                  <a:pt x="62466" y="66478"/>
                </a:lnTo>
                <a:lnTo>
                  <a:pt x="62466" y="63385"/>
                </a:lnTo>
                <a:lnTo>
                  <a:pt x="63058" y="60410"/>
                </a:lnTo>
                <a:lnTo>
                  <a:pt x="64241" y="57553"/>
                </a:lnTo>
                <a:lnTo>
                  <a:pt x="65425" y="54696"/>
                </a:lnTo>
                <a:lnTo>
                  <a:pt x="67110" y="52174"/>
                </a:lnTo>
                <a:lnTo>
                  <a:pt x="69297" y="49987"/>
                </a:lnTo>
                <a:lnTo>
                  <a:pt x="71484" y="47800"/>
                </a:lnTo>
                <a:lnTo>
                  <a:pt x="74006" y="46115"/>
                </a:lnTo>
                <a:lnTo>
                  <a:pt x="76863" y="44932"/>
                </a:lnTo>
                <a:lnTo>
                  <a:pt x="79720" y="43748"/>
                </a:lnTo>
                <a:lnTo>
                  <a:pt x="82695" y="43156"/>
                </a:lnTo>
                <a:lnTo>
                  <a:pt x="85787" y="43156"/>
                </a:lnTo>
                <a:lnTo>
                  <a:pt x="88880" y="43156"/>
                </a:lnTo>
                <a:lnTo>
                  <a:pt x="109108" y="63385"/>
                </a:lnTo>
                <a:lnTo>
                  <a:pt x="109108" y="66478"/>
                </a:lnTo>
                <a:close/>
              </a:path>
              <a:path w="375284" h="372110">
                <a:moveTo>
                  <a:pt x="210520" y="66511"/>
                </a:moveTo>
                <a:lnTo>
                  <a:pt x="210520" y="69590"/>
                </a:lnTo>
                <a:lnTo>
                  <a:pt x="209931" y="72551"/>
                </a:lnTo>
                <a:lnTo>
                  <a:pt x="208753" y="75396"/>
                </a:lnTo>
                <a:lnTo>
                  <a:pt x="207575" y="78240"/>
                </a:lnTo>
                <a:lnTo>
                  <a:pt x="196188" y="87960"/>
                </a:lnTo>
                <a:lnTo>
                  <a:pt x="193344" y="89138"/>
                </a:lnTo>
                <a:lnTo>
                  <a:pt x="190382" y="89727"/>
                </a:lnTo>
                <a:lnTo>
                  <a:pt x="187304" y="89727"/>
                </a:lnTo>
                <a:lnTo>
                  <a:pt x="184225" y="89727"/>
                </a:lnTo>
                <a:lnTo>
                  <a:pt x="181264" y="89138"/>
                </a:lnTo>
                <a:lnTo>
                  <a:pt x="178419" y="87960"/>
                </a:lnTo>
                <a:lnTo>
                  <a:pt x="175575" y="86782"/>
                </a:lnTo>
                <a:lnTo>
                  <a:pt x="173065" y="85104"/>
                </a:lnTo>
                <a:lnTo>
                  <a:pt x="170888" y="82928"/>
                </a:lnTo>
                <a:lnTo>
                  <a:pt x="168711" y="80751"/>
                </a:lnTo>
                <a:lnTo>
                  <a:pt x="167033" y="78240"/>
                </a:lnTo>
                <a:lnTo>
                  <a:pt x="165855" y="75396"/>
                </a:lnTo>
                <a:lnTo>
                  <a:pt x="164677" y="72551"/>
                </a:lnTo>
                <a:lnTo>
                  <a:pt x="164088" y="69590"/>
                </a:lnTo>
                <a:lnTo>
                  <a:pt x="164088" y="66511"/>
                </a:lnTo>
                <a:lnTo>
                  <a:pt x="164088" y="63433"/>
                </a:lnTo>
                <a:lnTo>
                  <a:pt x="164677" y="60471"/>
                </a:lnTo>
                <a:lnTo>
                  <a:pt x="165855" y="57627"/>
                </a:lnTo>
                <a:lnTo>
                  <a:pt x="167033" y="54783"/>
                </a:lnTo>
                <a:lnTo>
                  <a:pt x="168711" y="52272"/>
                </a:lnTo>
                <a:lnTo>
                  <a:pt x="170888" y="50095"/>
                </a:lnTo>
                <a:lnTo>
                  <a:pt x="173065" y="47918"/>
                </a:lnTo>
                <a:lnTo>
                  <a:pt x="175575" y="46241"/>
                </a:lnTo>
                <a:lnTo>
                  <a:pt x="178419" y="45063"/>
                </a:lnTo>
                <a:lnTo>
                  <a:pt x="181264" y="43884"/>
                </a:lnTo>
                <a:lnTo>
                  <a:pt x="184225" y="43295"/>
                </a:lnTo>
                <a:lnTo>
                  <a:pt x="187304" y="43295"/>
                </a:lnTo>
                <a:lnTo>
                  <a:pt x="190382" y="43295"/>
                </a:lnTo>
                <a:lnTo>
                  <a:pt x="208753" y="57627"/>
                </a:lnTo>
                <a:lnTo>
                  <a:pt x="209931" y="60471"/>
                </a:lnTo>
                <a:lnTo>
                  <a:pt x="210520" y="63433"/>
                </a:lnTo>
                <a:lnTo>
                  <a:pt x="210520" y="66511"/>
                </a:lnTo>
                <a:close/>
              </a:path>
              <a:path w="375284" h="372110">
                <a:moveTo>
                  <a:pt x="198076" y="87070"/>
                </a:moveTo>
                <a:lnTo>
                  <a:pt x="200090" y="86109"/>
                </a:lnTo>
              </a:path>
              <a:path w="375284" h="372110">
                <a:moveTo>
                  <a:pt x="311978" y="66516"/>
                </a:moveTo>
                <a:lnTo>
                  <a:pt x="311978" y="69588"/>
                </a:lnTo>
                <a:lnTo>
                  <a:pt x="311390" y="72544"/>
                </a:lnTo>
                <a:lnTo>
                  <a:pt x="310214" y="75383"/>
                </a:lnTo>
                <a:lnTo>
                  <a:pt x="309038" y="78221"/>
                </a:lnTo>
                <a:lnTo>
                  <a:pt x="297674" y="87922"/>
                </a:lnTo>
                <a:lnTo>
                  <a:pt x="294836" y="89098"/>
                </a:lnTo>
                <a:lnTo>
                  <a:pt x="291880" y="89686"/>
                </a:lnTo>
                <a:lnTo>
                  <a:pt x="288808" y="89686"/>
                </a:lnTo>
                <a:lnTo>
                  <a:pt x="285735" y="89686"/>
                </a:lnTo>
                <a:lnTo>
                  <a:pt x="265638" y="69588"/>
                </a:lnTo>
                <a:lnTo>
                  <a:pt x="265638" y="66516"/>
                </a:lnTo>
                <a:lnTo>
                  <a:pt x="265638" y="63443"/>
                </a:lnTo>
                <a:lnTo>
                  <a:pt x="272424" y="50132"/>
                </a:lnTo>
                <a:lnTo>
                  <a:pt x="274597" y="47959"/>
                </a:lnTo>
                <a:lnTo>
                  <a:pt x="277102" y="46285"/>
                </a:lnTo>
                <a:lnTo>
                  <a:pt x="279941" y="45109"/>
                </a:lnTo>
                <a:lnTo>
                  <a:pt x="282779" y="43934"/>
                </a:lnTo>
                <a:lnTo>
                  <a:pt x="285735" y="43346"/>
                </a:lnTo>
                <a:lnTo>
                  <a:pt x="288808" y="43346"/>
                </a:lnTo>
                <a:lnTo>
                  <a:pt x="291880" y="43346"/>
                </a:lnTo>
                <a:lnTo>
                  <a:pt x="310214" y="57649"/>
                </a:lnTo>
                <a:lnTo>
                  <a:pt x="311390" y="60488"/>
                </a:lnTo>
                <a:lnTo>
                  <a:pt x="311978" y="63443"/>
                </a:lnTo>
                <a:lnTo>
                  <a:pt x="311978" y="66516"/>
                </a:lnTo>
                <a:close/>
              </a:path>
              <a:path w="375284" h="372110">
                <a:moveTo>
                  <a:pt x="42255" y="275486"/>
                </a:moveTo>
                <a:lnTo>
                  <a:pt x="48736" y="233552"/>
                </a:lnTo>
                <a:lnTo>
                  <a:pt x="67061" y="195281"/>
                </a:lnTo>
                <a:lnTo>
                  <a:pt x="95661" y="163936"/>
                </a:lnTo>
                <a:lnTo>
                  <a:pt x="132101" y="142196"/>
                </a:lnTo>
                <a:lnTo>
                  <a:pt x="173267" y="131910"/>
                </a:lnTo>
                <a:lnTo>
                  <a:pt x="187439" y="131211"/>
                </a:lnTo>
                <a:lnTo>
                  <a:pt x="194542" y="131380"/>
                </a:lnTo>
                <a:lnTo>
                  <a:pt x="236154" y="139595"/>
                </a:lnTo>
                <a:lnTo>
                  <a:pt x="273647" y="159500"/>
                </a:lnTo>
                <a:lnTo>
                  <a:pt x="303765" y="189366"/>
                </a:lnTo>
                <a:lnTo>
                  <a:pt x="323983" y="226691"/>
                </a:lnTo>
                <a:lnTo>
                  <a:pt x="332546" y="268232"/>
                </a:lnTo>
                <a:lnTo>
                  <a:pt x="332775" y="275334"/>
                </a:lnTo>
              </a:path>
              <a:path w="375284" h="372110">
                <a:moveTo>
                  <a:pt x="206599" y="274097"/>
                </a:moveTo>
                <a:lnTo>
                  <a:pt x="187414" y="293282"/>
                </a:lnTo>
                <a:lnTo>
                  <a:pt x="184870" y="293282"/>
                </a:lnTo>
                <a:lnTo>
                  <a:pt x="169690" y="281438"/>
                </a:lnTo>
                <a:lnTo>
                  <a:pt x="168716" y="279088"/>
                </a:lnTo>
                <a:lnTo>
                  <a:pt x="168230" y="276641"/>
                </a:lnTo>
                <a:lnTo>
                  <a:pt x="168230" y="274097"/>
                </a:lnTo>
                <a:lnTo>
                  <a:pt x="168230" y="271553"/>
                </a:lnTo>
                <a:lnTo>
                  <a:pt x="173849" y="260531"/>
                </a:lnTo>
                <a:lnTo>
                  <a:pt x="175648" y="258732"/>
                </a:lnTo>
                <a:lnTo>
                  <a:pt x="177722" y="257346"/>
                </a:lnTo>
                <a:lnTo>
                  <a:pt x="180073" y="256372"/>
                </a:lnTo>
                <a:lnTo>
                  <a:pt x="182423" y="255399"/>
                </a:lnTo>
                <a:lnTo>
                  <a:pt x="184870" y="254912"/>
                </a:lnTo>
                <a:lnTo>
                  <a:pt x="187414" y="254912"/>
                </a:lnTo>
                <a:lnTo>
                  <a:pt x="189959" y="254912"/>
                </a:lnTo>
                <a:lnTo>
                  <a:pt x="192406" y="255399"/>
                </a:lnTo>
                <a:lnTo>
                  <a:pt x="194756" y="256372"/>
                </a:lnTo>
                <a:lnTo>
                  <a:pt x="197107" y="257346"/>
                </a:lnTo>
                <a:lnTo>
                  <a:pt x="199181" y="258732"/>
                </a:lnTo>
                <a:lnTo>
                  <a:pt x="200980" y="260531"/>
                </a:lnTo>
                <a:lnTo>
                  <a:pt x="202779" y="262330"/>
                </a:lnTo>
                <a:lnTo>
                  <a:pt x="204165" y="264405"/>
                </a:lnTo>
                <a:lnTo>
                  <a:pt x="205139" y="266755"/>
                </a:lnTo>
                <a:lnTo>
                  <a:pt x="206113" y="269105"/>
                </a:lnTo>
                <a:lnTo>
                  <a:pt x="206599" y="271553"/>
                </a:lnTo>
                <a:lnTo>
                  <a:pt x="206599" y="274097"/>
                </a:lnTo>
                <a:close/>
              </a:path>
              <a:path w="375284" h="372110">
                <a:moveTo>
                  <a:pt x="345038" y="371913"/>
                </a:moveTo>
                <a:lnTo>
                  <a:pt x="33922" y="372017"/>
                </a:lnTo>
              </a:path>
              <a:path w="375284" h="372110">
                <a:moveTo>
                  <a:pt x="260706" y="192336"/>
                </a:moveTo>
                <a:lnTo>
                  <a:pt x="198345" y="256797"/>
                </a:lnTo>
              </a:path>
              <a:path w="375284" h="372110">
                <a:moveTo>
                  <a:pt x="12" y="332005"/>
                </a:moveTo>
                <a:lnTo>
                  <a:pt x="0" y="31471"/>
                </a:lnTo>
              </a:path>
              <a:path w="375284" h="372110">
                <a:moveTo>
                  <a:pt x="375046" y="38414"/>
                </a:moveTo>
                <a:lnTo>
                  <a:pt x="374999" y="342732"/>
                </a:lnTo>
              </a:path>
              <a:path w="375284" h="372110">
                <a:moveTo>
                  <a:pt x="40165" y="0"/>
                </a:moveTo>
                <a:lnTo>
                  <a:pt x="344375" y="57"/>
                </a:lnTo>
              </a:path>
            </a:pathLst>
          </a:custGeom>
          <a:ln w="16612">
            <a:solidFill>
              <a:srgbClr val="596E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32290" y="5648197"/>
            <a:ext cx="3030220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450" cap="small" dirty="0">
                <a:solidFill>
                  <a:srgbClr val="CFD0D8"/>
                </a:solidFill>
                <a:latin typeface="Roboto Lt"/>
                <a:cs typeface="Roboto Lt"/>
              </a:rPr>
              <a:t>s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afety</a:t>
            </a:r>
            <a:r>
              <a:rPr sz="1450" spc="18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Analytics</a:t>
            </a:r>
            <a:endParaRPr sz="1450" dirty="0">
              <a:latin typeface="Roboto Lt"/>
              <a:cs typeface="Roboto Lt"/>
            </a:endParaRPr>
          </a:p>
          <a:p>
            <a:pPr marL="12700" marR="5080" algn="just">
              <a:lnSpc>
                <a:spcPct val="138600"/>
              </a:lnSpc>
              <a:spcBef>
                <a:spcPts val="57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Har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bir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xodimning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xavfsizlik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ko'nikmalari,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FD0D8"/>
                </a:solidFill>
                <a:latin typeface="Roboto"/>
                <a:cs typeface="Roboto"/>
              </a:rPr>
              <a:t>zaif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tomonlari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rivojlanish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dinamikasi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avtomatik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shakllantiriladi.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Individual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Profile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yaratiladi.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74" y="7134224"/>
            <a:ext cx="10229850" cy="600075"/>
            <a:chOff x="600074" y="4743449"/>
            <a:chExt cx="10229850" cy="600075"/>
          </a:xfrm>
        </p:grpSpPr>
        <p:sp>
          <p:nvSpPr>
            <p:cNvPr id="22" name="object 22"/>
            <p:cNvSpPr/>
            <p:nvPr/>
          </p:nvSpPr>
          <p:spPr>
            <a:xfrm>
              <a:off x="600074" y="4743449"/>
              <a:ext cx="10229850" cy="600075"/>
            </a:xfrm>
            <a:custGeom>
              <a:avLst/>
              <a:gdLst/>
              <a:ahLst/>
              <a:cxnLst/>
              <a:rect l="l" t="t" r="r" b="b"/>
              <a:pathLst>
                <a:path w="10229850" h="600075">
                  <a:moveTo>
                    <a:pt x="10180790" y="600074"/>
                  </a:moveTo>
                  <a:lnTo>
                    <a:pt x="49058" y="600074"/>
                  </a:lnTo>
                  <a:lnTo>
                    <a:pt x="45644" y="599737"/>
                  </a:lnTo>
                  <a:lnTo>
                    <a:pt x="10764" y="579605"/>
                  </a:lnTo>
                  <a:lnTo>
                    <a:pt x="0" y="551015"/>
                  </a:lnTo>
                  <a:lnTo>
                    <a:pt x="0" y="547568"/>
                  </a:lnTo>
                  <a:lnTo>
                    <a:pt x="0" y="49058"/>
                  </a:lnTo>
                  <a:lnTo>
                    <a:pt x="17816" y="12940"/>
                  </a:lnTo>
                  <a:lnTo>
                    <a:pt x="49058" y="0"/>
                  </a:lnTo>
                  <a:lnTo>
                    <a:pt x="10180790" y="0"/>
                  </a:lnTo>
                  <a:lnTo>
                    <a:pt x="10216908" y="17816"/>
                  </a:lnTo>
                  <a:lnTo>
                    <a:pt x="10229849" y="49058"/>
                  </a:lnTo>
                  <a:lnTo>
                    <a:pt x="10229849" y="551015"/>
                  </a:lnTo>
                  <a:lnTo>
                    <a:pt x="10212031" y="587133"/>
                  </a:lnTo>
                  <a:lnTo>
                    <a:pt x="10184205" y="599737"/>
                  </a:lnTo>
                  <a:lnTo>
                    <a:pt x="10180790" y="6000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603" y="4971900"/>
              <a:ext cx="131266" cy="13126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74935" y="7313953"/>
            <a:ext cx="624014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FFFFFF"/>
                </a:solidFill>
                <a:latin typeface="Roboto"/>
                <a:cs typeface="Roboto"/>
              </a:rPr>
              <a:t>Platforma</a:t>
            </a:r>
            <a:r>
              <a:rPr sz="1150" b="1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FFFFFF"/>
                </a:solidFill>
                <a:latin typeface="Roboto"/>
                <a:cs typeface="Roboto"/>
              </a:rPr>
              <a:t>formulasi:</a:t>
            </a:r>
            <a:r>
              <a:rPr sz="1150" b="1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SCENARIO</a:t>
            </a:r>
            <a:r>
              <a:rPr sz="1150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sz="1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ACTION</a:t>
            </a:r>
            <a:r>
              <a:rPr sz="1150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sz="1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AI</a:t>
            </a:r>
            <a:r>
              <a:rPr sz="1150" spc="9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Roboto"/>
                <a:cs typeface="Roboto"/>
              </a:rPr>
              <a:t>ANALYSIS</a:t>
            </a:r>
            <a:r>
              <a:rPr sz="1150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sz="1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FEEDBACK</a:t>
            </a:r>
            <a:r>
              <a:rPr sz="1150" spc="9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sz="1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Roboto"/>
                <a:cs typeface="Roboto"/>
              </a:rPr>
              <a:t>IMPROVEMENT</a:t>
            </a:r>
            <a:endParaRPr sz="11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FF3059A-50E0-45CC-ACF4-2D3C742C3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2" y="2149477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0"/>
            <a:ext cx="11430000" cy="1141095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0074" y="3114674"/>
            <a:ext cx="733425" cy="228600"/>
          </a:xfrm>
          <a:custGeom>
            <a:avLst/>
            <a:gdLst/>
            <a:ahLst/>
            <a:cxnLst/>
            <a:rect l="l" t="t" r="r" b="b"/>
            <a:pathLst>
              <a:path w="733425" h="228600">
                <a:moveTo>
                  <a:pt x="696989" y="228599"/>
                </a:moveTo>
                <a:lnTo>
                  <a:pt x="36435" y="228599"/>
                </a:lnTo>
                <a:lnTo>
                  <a:pt x="31076" y="227534"/>
                </a:lnTo>
                <a:lnTo>
                  <a:pt x="1065" y="197523"/>
                </a:lnTo>
                <a:lnTo>
                  <a:pt x="0" y="192164"/>
                </a:lnTo>
                <a:lnTo>
                  <a:pt x="0" y="186594"/>
                </a:lnTo>
                <a:lnTo>
                  <a:pt x="0" y="36434"/>
                </a:lnTo>
                <a:lnTo>
                  <a:pt x="31076" y="1065"/>
                </a:lnTo>
                <a:lnTo>
                  <a:pt x="36435" y="0"/>
                </a:lnTo>
                <a:lnTo>
                  <a:pt x="696989" y="0"/>
                </a:lnTo>
                <a:lnTo>
                  <a:pt x="732359" y="31076"/>
                </a:lnTo>
                <a:lnTo>
                  <a:pt x="733424" y="36434"/>
                </a:lnTo>
                <a:lnTo>
                  <a:pt x="733424" y="192164"/>
                </a:lnTo>
                <a:lnTo>
                  <a:pt x="702347" y="227534"/>
                </a:lnTo>
                <a:lnTo>
                  <a:pt x="696989" y="228599"/>
                </a:lnTo>
                <a:close/>
              </a:path>
            </a:pathLst>
          </a:custGeom>
          <a:solidFill>
            <a:srgbClr val="0E1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267" y="3134359"/>
            <a:ext cx="57721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FD0D8"/>
                </a:solidFill>
                <a:latin typeface="Roboto"/>
                <a:cs typeface="Roboto"/>
              </a:rPr>
              <a:t>MUAMMO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3384200"/>
            <a:ext cx="3948429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Nega</a:t>
            </a:r>
            <a:r>
              <a:rPr spc="-100" dirty="0"/>
              <a:t> </a:t>
            </a:r>
            <a:r>
              <a:rPr dirty="0"/>
              <a:t>bizga</a:t>
            </a:r>
            <a:r>
              <a:rPr spc="-100" dirty="0"/>
              <a:t> </a:t>
            </a:r>
            <a:r>
              <a:rPr spc="-10" dirty="0"/>
              <a:t>ehtiyoj</a:t>
            </a:r>
            <a:r>
              <a:rPr spc="-100" dirty="0"/>
              <a:t> </a:t>
            </a:r>
            <a:r>
              <a:rPr spc="-20" dirty="0"/>
              <a:t>bor?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403" y="4275931"/>
            <a:ext cx="565912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"Xavfsizlikni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test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orqali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bilish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xavfli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vaziyatda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to'g'ri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harakat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qila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olish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degani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emas."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0074" y="4095749"/>
            <a:ext cx="19050" cy="581025"/>
          </a:xfrm>
          <a:custGeom>
            <a:avLst/>
            <a:gdLst/>
            <a:ahLst/>
            <a:cxnLst/>
            <a:rect l="l" t="t" r="r" b="b"/>
            <a:pathLst>
              <a:path w="19050" h="581025">
                <a:moveTo>
                  <a:pt x="12155" y="581024"/>
                </a:moveTo>
                <a:lnTo>
                  <a:pt x="6894" y="581024"/>
                </a:lnTo>
                <a:lnTo>
                  <a:pt x="4649" y="580094"/>
                </a:lnTo>
                <a:lnTo>
                  <a:pt x="929" y="576375"/>
                </a:lnTo>
                <a:lnTo>
                  <a:pt x="0" y="574130"/>
                </a:lnTo>
                <a:lnTo>
                  <a:pt x="0" y="571499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574130"/>
                </a:lnTo>
                <a:lnTo>
                  <a:pt x="18120" y="576375"/>
                </a:lnTo>
                <a:lnTo>
                  <a:pt x="14400" y="580094"/>
                </a:lnTo>
                <a:lnTo>
                  <a:pt x="12155" y="581024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5299" y="4848225"/>
            <a:ext cx="5143500" cy="2400300"/>
          </a:xfrm>
          <a:custGeom>
            <a:avLst/>
            <a:gdLst/>
            <a:ahLst/>
            <a:cxnLst/>
            <a:rect l="l" t="t" r="r" b="b"/>
            <a:pathLst>
              <a:path w="5143500" h="2400300">
                <a:moveTo>
                  <a:pt x="5059398" y="2400299"/>
                </a:moveTo>
                <a:lnTo>
                  <a:pt x="84101" y="2400299"/>
                </a:lnTo>
                <a:lnTo>
                  <a:pt x="78247" y="2399722"/>
                </a:lnTo>
                <a:lnTo>
                  <a:pt x="35089" y="2381845"/>
                </a:lnTo>
                <a:lnTo>
                  <a:pt x="9113" y="2350193"/>
                </a:lnTo>
                <a:lnTo>
                  <a:pt x="0" y="2316198"/>
                </a:lnTo>
                <a:lnTo>
                  <a:pt x="0" y="2310288"/>
                </a:lnTo>
                <a:lnTo>
                  <a:pt x="0" y="84100"/>
                </a:lnTo>
                <a:lnTo>
                  <a:pt x="11886" y="44917"/>
                </a:lnTo>
                <a:lnTo>
                  <a:pt x="44917" y="11885"/>
                </a:lnTo>
                <a:lnTo>
                  <a:pt x="84101" y="0"/>
                </a:lnTo>
                <a:lnTo>
                  <a:pt x="5059398" y="0"/>
                </a:lnTo>
                <a:lnTo>
                  <a:pt x="5098581" y="11885"/>
                </a:lnTo>
                <a:lnTo>
                  <a:pt x="5131612" y="44917"/>
                </a:lnTo>
                <a:lnTo>
                  <a:pt x="5143499" y="84100"/>
                </a:lnTo>
                <a:lnTo>
                  <a:pt x="5143499" y="2316198"/>
                </a:lnTo>
                <a:lnTo>
                  <a:pt x="5131612" y="2355380"/>
                </a:lnTo>
                <a:lnTo>
                  <a:pt x="5098580" y="2388412"/>
                </a:lnTo>
                <a:lnTo>
                  <a:pt x="5065251" y="2399722"/>
                </a:lnTo>
                <a:lnTo>
                  <a:pt x="5059398" y="2400299"/>
                </a:lnTo>
                <a:close/>
              </a:path>
            </a:pathLst>
          </a:custGeom>
          <a:solidFill>
            <a:srgbClr val="596ED8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9493" y="4962398"/>
            <a:ext cx="144081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FFFFFF"/>
                </a:solidFill>
                <a:latin typeface="Roboto Lt"/>
                <a:cs typeface="Roboto Lt"/>
              </a:rPr>
              <a:t>An'anaviy </a:t>
            </a:r>
            <a:r>
              <a:rPr sz="1450" spc="-10" dirty="0">
                <a:solidFill>
                  <a:srgbClr val="FFFFFF"/>
                </a:solidFill>
                <a:latin typeface="Roboto Lt"/>
                <a:cs typeface="Roboto Lt"/>
              </a:rPr>
              <a:t>o'qitish</a:t>
            </a:r>
            <a:endParaRPr sz="1450">
              <a:latin typeface="Roboto Lt"/>
              <a:cs typeface="Roboto L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7212" y="5476874"/>
            <a:ext cx="47625" cy="923925"/>
          </a:xfrm>
          <a:custGeom>
            <a:avLst/>
            <a:gdLst/>
            <a:ahLst/>
            <a:cxnLst/>
            <a:rect l="l" t="t" r="r" b="b"/>
            <a:pathLst>
              <a:path w="47625" h="923925">
                <a:moveTo>
                  <a:pt x="47625" y="896962"/>
                </a:moveTo>
                <a:lnTo>
                  <a:pt x="26974" y="876300"/>
                </a:lnTo>
                <a:lnTo>
                  <a:pt x="20662" y="876300"/>
                </a:lnTo>
                <a:lnTo>
                  <a:pt x="0" y="896962"/>
                </a:lnTo>
                <a:lnTo>
                  <a:pt x="0" y="903274"/>
                </a:lnTo>
                <a:lnTo>
                  <a:pt x="20662" y="923925"/>
                </a:lnTo>
                <a:lnTo>
                  <a:pt x="26974" y="923925"/>
                </a:lnTo>
                <a:lnTo>
                  <a:pt x="47625" y="903274"/>
                </a:lnTo>
                <a:lnTo>
                  <a:pt x="47625" y="900112"/>
                </a:lnTo>
                <a:lnTo>
                  <a:pt x="47625" y="896962"/>
                </a:lnTo>
                <a:close/>
              </a:path>
              <a:path w="47625" h="923925">
                <a:moveTo>
                  <a:pt x="47625" y="601687"/>
                </a:moveTo>
                <a:lnTo>
                  <a:pt x="26974" y="581025"/>
                </a:lnTo>
                <a:lnTo>
                  <a:pt x="20662" y="581025"/>
                </a:lnTo>
                <a:lnTo>
                  <a:pt x="0" y="601687"/>
                </a:lnTo>
                <a:lnTo>
                  <a:pt x="0" y="607999"/>
                </a:lnTo>
                <a:lnTo>
                  <a:pt x="20662" y="628650"/>
                </a:lnTo>
                <a:lnTo>
                  <a:pt x="26974" y="628650"/>
                </a:lnTo>
                <a:lnTo>
                  <a:pt x="47625" y="607999"/>
                </a:lnTo>
                <a:lnTo>
                  <a:pt x="47625" y="604837"/>
                </a:lnTo>
                <a:lnTo>
                  <a:pt x="47625" y="601687"/>
                </a:lnTo>
                <a:close/>
              </a:path>
              <a:path w="47625" h="923925">
                <a:moveTo>
                  <a:pt x="47625" y="315937"/>
                </a:moveTo>
                <a:lnTo>
                  <a:pt x="26974" y="295275"/>
                </a:lnTo>
                <a:lnTo>
                  <a:pt x="20662" y="295275"/>
                </a:lnTo>
                <a:lnTo>
                  <a:pt x="0" y="315937"/>
                </a:lnTo>
                <a:lnTo>
                  <a:pt x="0" y="322249"/>
                </a:lnTo>
                <a:lnTo>
                  <a:pt x="20662" y="342900"/>
                </a:lnTo>
                <a:lnTo>
                  <a:pt x="26974" y="342900"/>
                </a:lnTo>
                <a:lnTo>
                  <a:pt x="47625" y="322249"/>
                </a:lnTo>
                <a:lnTo>
                  <a:pt x="47625" y="319087"/>
                </a:lnTo>
                <a:lnTo>
                  <a:pt x="47625" y="315937"/>
                </a:lnTo>
                <a:close/>
              </a:path>
              <a:path w="47625" h="92392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9404" y="5390356"/>
            <a:ext cx="1183640" cy="1082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10" dirty="0">
                <a:latin typeface="Roboto"/>
                <a:cs typeface="Roboto"/>
              </a:rPr>
              <a:t>Yo'riqnoma</a:t>
            </a:r>
            <a:r>
              <a:rPr sz="1150" spc="-20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o'qish</a:t>
            </a:r>
            <a:endParaRPr sz="1150" dirty="0">
              <a:latin typeface="Roboto"/>
              <a:cs typeface="Roboto"/>
            </a:endParaRPr>
          </a:p>
          <a:p>
            <a:pPr marL="12700" marR="175895">
              <a:lnSpc>
                <a:spcPct val="165800"/>
              </a:lnSpc>
              <a:spcBef>
                <a:spcPts val="35"/>
              </a:spcBef>
            </a:pPr>
            <a:r>
              <a:rPr sz="1150" dirty="0">
                <a:latin typeface="Roboto"/>
                <a:cs typeface="Roboto"/>
              </a:rPr>
              <a:t>Video</a:t>
            </a:r>
            <a:r>
              <a:rPr sz="1150" spc="90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ko'rish </a:t>
            </a:r>
            <a:r>
              <a:rPr sz="1150" dirty="0">
                <a:latin typeface="Roboto"/>
                <a:cs typeface="Roboto"/>
              </a:rPr>
              <a:t>Test</a:t>
            </a:r>
            <a:r>
              <a:rPr sz="1150" spc="-10" dirty="0">
                <a:latin typeface="Roboto"/>
                <a:cs typeface="Roboto"/>
              </a:rPr>
              <a:t> topshirish "O'tdi"</a:t>
            </a:r>
            <a:r>
              <a:rPr sz="1150" spc="-25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natijasi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493" y="6580028"/>
            <a:ext cx="459803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b="1" dirty="0">
                <a:latin typeface="Roboto"/>
                <a:cs typeface="Roboto"/>
              </a:rPr>
              <a:t>Natija:</a:t>
            </a:r>
            <a:r>
              <a:rPr sz="1150" b="1" spc="2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Qoidani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bilish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—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lekin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real</a:t>
            </a:r>
            <a:r>
              <a:rPr sz="1150" spc="2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xavfda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qaror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qabul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qilish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ko'nikmasi shakllanmagan.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94734" y="4962398"/>
            <a:ext cx="200850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FFFFFF"/>
                </a:solidFill>
                <a:latin typeface="Roboto Lt"/>
                <a:cs typeface="Roboto Lt"/>
              </a:rPr>
              <a:t>Real</a:t>
            </a:r>
            <a:r>
              <a:rPr sz="1450" spc="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FFFFFF"/>
                </a:solidFill>
                <a:latin typeface="Roboto Lt"/>
                <a:cs typeface="Roboto Lt"/>
              </a:rPr>
              <a:t>favqulodda</a:t>
            </a:r>
            <a:r>
              <a:rPr sz="1450" spc="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Roboto Lt"/>
                <a:cs typeface="Roboto Lt"/>
              </a:rPr>
              <a:t>vaziyat</a:t>
            </a:r>
            <a:endParaRPr sz="1450" dirty="0">
              <a:latin typeface="Roboto Lt"/>
              <a:cs typeface="Roboto L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24548" y="54768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24548" y="5772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24548" y="6057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24548" y="63531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34645" y="5390356"/>
            <a:ext cx="2138680" cy="1085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Vaqt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bosimi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stress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Nostandart</a:t>
            </a:r>
            <a:r>
              <a:rPr sz="1150" spc="8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FD0D8"/>
                </a:solidFill>
                <a:latin typeface="Roboto"/>
                <a:cs typeface="Roboto"/>
              </a:rPr>
              <a:t>holat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Bir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nechta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bir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vaqtda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Noto'g'ri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qaror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CFD0D8"/>
                </a:solidFill>
                <a:latin typeface="Lucida Sans Unicode"/>
                <a:cs typeface="Lucida Sans Unicode"/>
              </a:rPr>
              <a:t>→</a:t>
            </a:r>
            <a:r>
              <a:rPr sz="1300" spc="-185" dirty="0">
                <a:solidFill>
                  <a:srgbClr val="CFD0D8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baxtsiz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hodisa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94734" y="6580028"/>
            <a:ext cx="474027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Muammo:</a:t>
            </a:r>
            <a:r>
              <a:rPr sz="1150" b="1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An'anaviy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xavfli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hamda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nostandart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vaziyatlarda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to'g'ri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harakat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qilish</a:t>
            </a:r>
            <a:r>
              <a:rPr sz="11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ko'nikmasini</a:t>
            </a:r>
            <a:r>
              <a:rPr sz="11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yetarlicha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 shakllantirmaydi.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0074" y="7419974"/>
            <a:ext cx="10229850" cy="838200"/>
            <a:chOff x="600074" y="4952999"/>
            <a:chExt cx="10229850" cy="838200"/>
          </a:xfrm>
        </p:grpSpPr>
        <p:sp>
          <p:nvSpPr>
            <p:cNvPr id="21" name="object 21"/>
            <p:cNvSpPr/>
            <p:nvPr/>
          </p:nvSpPr>
          <p:spPr>
            <a:xfrm>
              <a:off x="600074" y="4952999"/>
              <a:ext cx="10229850" cy="838200"/>
            </a:xfrm>
            <a:custGeom>
              <a:avLst/>
              <a:gdLst/>
              <a:ahLst/>
              <a:cxnLst/>
              <a:rect l="l" t="t" r="r" b="b"/>
              <a:pathLst>
                <a:path w="10229850" h="838200">
                  <a:moveTo>
                    <a:pt x="10180790" y="838199"/>
                  </a:moveTo>
                  <a:lnTo>
                    <a:pt x="49058" y="838199"/>
                  </a:lnTo>
                  <a:lnTo>
                    <a:pt x="45644" y="837863"/>
                  </a:lnTo>
                  <a:lnTo>
                    <a:pt x="10764" y="817730"/>
                  </a:lnTo>
                  <a:lnTo>
                    <a:pt x="0" y="789140"/>
                  </a:lnTo>
                  <a:lnTo>
                    <a:pt x="0" y="785693"/>
                  </a:lnTo>
                  <a:lnTo>
                    <a:pt x="0" y="49059"/>
                  </a:lnTo>
                  <a:lnTo>
                    <a:pt x="17816" y="12941"/>
                  </a:lnTo>
                  <a:lnTo>
                    <a:pt x="49058" y="0"/>
                  </a:lnTo>
                  <a:lnTo>
                    <a:pt x="10180790" y="0"/>
                  </a:lnTo>
                  <a:lnTo>
                    <a:pt x="10216908" y="17816"/>
                  </a:lnTo>
                  <a:lnTo>
                    <a:pt x="10229849" y="49059"/>
                  </a:lnTo>
                  <a:lnTo>
                    <a:pt x="10229849" y="789140"/>
                  </a:lnTo>
                  <a:lnTo>
                    <a:pt x="10212031" y="825258"/>
                  </a:lnTo>
                  <a:lnTo>
                    <a:pt x="10184205" y="837863"/>
                  </a:lnTo>
                  <a:lnTo>
                    <a:pt x="10180790" y="83819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603" y="5171925"/>
              <a:ext cx="131266" cy="13126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74935" y="7552501"/>
            <a:ext cx="9277985" cy="50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95"/>
              </a:spcBef>
            </a:pP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Hakaton</a:t>
            </a:r>
            <a:r>
              <a:rPr sz="1150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Roboto"/>
                <a:cs typeface="Roboto"/>
              </a:rPr>
              <a:t>25-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muammosi</a:t>
            </a:r>
            <a:r>
              <a:rPr sz="1150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bilan</a:t>
            </a:r>
            <a:r>
              <a:rPr sz="1150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bevosita</a:t>
            </a:r>
            <a:r>
              <a:rPr sz="1150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FFFFFF"/>
                </a:solidFill>
                <a:latin typeface="Roboto"/>
                <a:cs typeface="Roboto"/>
              </a:rPr>
              <a:t>mos:</a:t>
            </a:r>
            <a:r>
              <a:rPr sz="1150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30" dirty="0">
                <a:solidFill>
                  <a:srgbClr val="FFFFFF"/>
                </a:solidFill>
                <a:latin typeface="Roboto"/>
                <a:cs typeface="Roboto"/>
              </a:rPr>
              <a:t>"Xodimlarni</a:t>
            </a:r>
            <a:r>
              <a:rPr sz="1200" i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20" dirty="0">
                <a:solidFill>
                  <a:srgbClr val="FFFFFF"/>
                </a:solidFill>
                <a:latin typeface="Roboto"/>
                <a:cs typeface="Roboto"/>
              </a:rPr>
              <a:t>sanoat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20" dirty="0">
                <a:solidFill>
                  <a:srgbClr val="FFFFFF"/>
                </a:solidFill>
                <a:latin typeface="Roboto"/>
                <a:cs typeface="Roboto"/>
              </a:rPr>
              <a:t>xavfsizligi</a:t>
            </a:r>
            <a:r>
              <a:rPr sz="1200" i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Roboto"/>
                <a:cs typeface="Roboto"/>
              </a:rPr>
              <a:t>talablariga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Roboto"/>
                <a:cs typeface="Roboto"/>
              </a:rPr>
              <a:t>o'qitishda</a:t>
            </a:r>
            <a:r>
              <a:rPr sz="1200" i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45" dirty="0">
                <a:solidFill>
                  <a:srgbClr val="FFFFFF"/>
                </a:solidFill>
                <a:latin typeface="Roboto"/>
                <a:cs typeface="Roboto"/>
              </a:rPr>
              <a:t>an'anaviy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Roboto"/>
                <a:cs typeface="Roboto"/>
              </a:rPr>
              <a:t>yo'riqnoma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Roboto"/>
                <a:cs typeface="Roboto"/>
              </a:rPr>
              <a:t>va</a:t>
            </a:r>
            <a:r>
              <a:rPr sz="1200" i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Roboto"/>
                <a:cs typeface="Roboto"/>
              </a:rPr>
              <a:t>testlar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Roboto"/>
                <a:cs typeface="Roboto"/>
              </a:rPr>
              <a:t>xavfli</a:t>
            </a:r>
            <a:r>
              <a:rPr sz="1200" i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Roboto"/>
                <a:cs typeface="Roboto"/>
              </a:rPr>
              <a:t>hamda </a:t>
            </a:r>
            <a:r>
              <a:rPr sz="1200" i="1" spc="-20" dirty="0">
                <a:solidFill>
                  <a:srgbClr val="FFFFFF"/>
                </a:solidFill>
                <a:latin typeface="Roboto"/>
                <a:cs typeface="Roboto"/>
              </a:rPr>
              <a:t>nostandart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30" dirty="0">
                <a:solidFill>
                  <a:srgbClr val="FFFFFF"/>
                </a:solidFill>
                <a:latin typeface="Roboto"/>
                <a:cs typeface="Roboto"/>
              </a:rPr>
              <a:t>vaziyatlarda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Roboto"/>
                <a:cs typeface="Roboto"/>
              </a:rPr>
              <a:t>to'g'ri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Roboto"/>
                <a:cs typeface="Roboto"/>
              </a:rPr>
              <a:t>harakat</a:t>
            </a:r>
            <a:r>
              <a:rPr sz="1200" i="1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20" dirty="0">
                <a:solidFill>
                  <a:srgbClr val="FFFFFF"/>
                </a:solidFill>
                <a:latin typeface="Roboto"/>
                <a:cs typeface="Roboto"/>
              </a:rPr>
              <a:t>qilish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35" dirty="0">
                <a:solidFill>
                  <a:srgbClr val="FFFFFF"/>
                </a:solidFill>
                <a:latin typeface="Roboto"/>
                <a:cs typeface="Roboto"/>
              </a:rPr>
              <a:t>ko'nikmalarini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Roboto"/>
                <a:cs typeface="Roboto"/>
              </a:rPr>
              <a:t>yetarlicha</a:t>
            </a:r>
            <a:r>
              <a:rPr sz="1200" i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Roboto"/>
                <a:cs typeface="Roboto"/>
              </a:rPr>
              <a:t>shakllantirmaydi."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499AAB9-1D97-4C7B-BF14-6B47289BE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2" y="2149477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"/>
            <a:ext cx="11430000" cy="11410950"/>
          </a:xfrm>
          <a:custGeom>
            <a:avLst/>
            <a:gdLst/>
            <a:ahLst/>
            <a:cxnLst/>
            <a:rect l="l" t="t" r="r" b="b"/>
            <a:pathLst>
              <a:path w="11430000" h="9429750">
                <a:moveTo>
                  <a:pt x="11429999" y="9429749"/>
                </a:moveTo>
                <a:lnTo>
                  <a:pt x="0" y="94297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942974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604836" y="1262062"/>
            <a:ext cx="1376363" cy="219075"/>
          </a:xfrm>
          <a:custGeom>
            <a:avLst/>
            <a:gdLst/>
            <a:ahLst/>
            <a:cxnLst/>
            <a:rect l="l" t="t" r="r" b="b"/>
            <a:pathLst>
              <a:path w="1238250" h="219075">
                <a:moveTo>
                  <a:pt x="0" y="181832"/>
                </a:moveTo>
                <a:lnTo>
                  <a:pt x="0" y="37242"/>
                </a:lnTo>
                <a:lnTo>
                  <a:pt x="0" y="32303"/>
                </a:lnTo>
                <a:lnTo>
                  <a:pt x="944" y="27553"/>
                </a:lnTo>
                <a:lnTo>
                  <a:pt x="2834" y="22990"/>
                </a:lnTo>
                <a:lnTo>
                  <a:pt x="4724" y="18427"/>
                </a:lnTo>
                <a:lnTo>
                  <a:pt x="7415" y="14400"/>
                </a:lnTo>
                <a:lnTo>
                  <a:pt x="10908" y="10908"/>
                </a:lnTo>
                <a:lnTo>
                  <a:pt x="14400" y="7415"/>
                </a:lnTo>
                <a:lnTo>
                  <a:pt x="18427" y="4724"/>
                </a:lnTo>
                <a:lnTo>
                  <a:pt x="22990" y="2834"/>
                </a:lnTo>
                <a:lnTo>
                  <a:pt x="27553" y="944"/>
                </a:lnTo>
                <a:lnTo>
                  <a:pt x="32304" y="0"/>
                </a:lnTo>
                <a:lnTo>
                  <a:pt x="37242" y="0"/>
                </a:lnTo>
                <a:lnTo>
                  <a:pt x="1201007" y="0"/>
                </a:lnTo>
                <a:lnTo>
                  <a:pt x="1205945" y="0"/>
                </a:lnTo>
                <a:lnTo>
                  <a:pt x="1210696" y="944"/>
                </a:lnTo>
                <a:lnTo>
                  <a:pt x="1215259" y="2834"/>
                </a:lnTo>
                <a:lnTo>
                  <a:pt x="1219822" y="4724"/>
                </a:lnTo>
                <a:lnTo>
                  <a:pt x="1238249" y="37242"/>
                </a:lnTo>
                <a:lnTo>
                  <a:pt x="1238249" y="181832"/>
                </a:lnTo>
                <a:lnTo>
                  <a:pt x="1215259" y="216239"/>
                </a:lnTo>
                <a:lnTo>
                  <a:pt x="1210696" y="218129"/>
                </a:lnTo>
                <a:lnTo>
                  <a:pt x="1205945" y="219074"/>
                </a:lnTo>
                <a:lnTo>
                  <a:pt x="1201007" y="219074"/>
                </a:lnTo>
                <a:lnTo>
                  <a:pt x="37242" y="219074"/>
                </a:lnTo>
                <a:lnTo>
                  <a:pt x="10908" y="208166"/>
                </a:lnTo>
                <a:lnTo>
                  <a:pt x="7415" y="204674"/>
                </a:lnTo>
                <a:lnTo>
                  <a:pt x="4724" y="200647"/>
                </a:lnTo>
                <a:lnTo>
                  <a:pt x="2834" y="196084"/>
                </a:lnTo>
                <a:lnTo>
                  <a:pt x="944" y="191521"/>
                </a:lnTo>
                <a:lnTo>
                  <a:pt x="0" y="186770"/>
                </a:lnTo>
                <a:lnTo>
                  <a:pt x="0" y="181832"/>
                </a:lnTo>
                <a:close/>
              </a:path>
            </a:pathLst>
          </a:custGeom>
          <a:ln w="9524">
            <a:solidFill>
              <a:srgbClr val="596ED8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677266" y="1276984"/>
            <a:ext cx="1456333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96ED8"/>
                </a:solidFill>
                <a:latin typeface="Roboto"/>
                <a:cs typeface="Roboto"/>
              </a:rPr>
              <a:t>BOZOR</a:t>
            </a:r>
            <a:r>
              <a:rPr sz="1000" spc="-25" dirty="0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596ED8"/>
                </a:solidFill>
                <a:latin typeface="Roboto"/>
                <a:cs typeface="Roboto"/>
              </a:rPr>
              <a:t>IMKONIYATI</a:t>
            </a:r>
            <a:endParaRPr sz="1000" dirty="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1526825"/>
            <a:ext cx="588772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Bozor</a:t>
            </a:r>
            <a:r>
              <a:rPr sz="3200" spc="-130" dirty="0"/>
              <a:t> </a:t>
            </a:r>
            <a:r>
              <a:rPr sz="3200" dirty="0"/>
              <a:t>hajmi</a:t>
            </a:r>
            <a:r>
              <a:rPr sz="3200" spc="-125" dirty="0"/>
              <a:t> </a:t>
            </a:r>
            <a:r>
              <a:rPr sz="3200" dirty="0"/>
              <a:t>va</a:t>
            </a:r>
            <a:r>
              <a:rPr sz="3200" spc="-125" dirty="0"/>
              <a:t> </a:t>
            </a:r>
            <a:r>
              <a:rPr sz="3200" dirty="0"/>
              <a:t>maqsadli</a:t>
            </a:r>
            <a:r>
              <a:rPr sz="3200" spc="-125" dirty="0"/>
              <a:t> </a:t>
            </a:r>
            <a:r>
              <a:rPr sz="3200" spc="-10" dirty="0"/>
              <a:t>auditoriya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4" y="3054423"/>
            <a:ext cx="3777615" cy="455413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TAM</a:t>
            </a:r>
            <a:r>
              <a:rPr sz="1600" spc="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—</a:t>
            </a:r>
            <a:r>
              <a:rPr sz="1600" spc="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Global</a:t>
            </a:r>
            <a:r>
              <a:rPr sz="1600" spc="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boto Lt"/>
                <a:cs typeface="Roboto Lt"/>
              </a:rPr>
              <a:t>bozor</a:t>
            </a:r>
            <a:endParaRPr sz="1600" dirty="0">
              <a:latin typeface="Roboto Lt"/>
              <a:cs typeface="Roboto Lt"/>
            </a:endParaRPr>
          </a:p>
          <a:p>
            <a:pPr marL="12700" marR="43815">
              <a:lnSpc>
                <a:spcPct val="135900"/>
              </a:lnSpc>
              <a:spcBef>
                <a:spcPts val="1140"/>
              </a:spcBef>
            </a:pP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Global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sanoat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xavfsizligi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o'qitish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VR/XR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r>
              <a:rPr sz="120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bozori.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Global</a:t>
            </a:r>
            <a:r>
              <a:rPr sz="120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FD0D8"/>
                </a:solidFill>
                <a:latin typeface="Roboto"/>
                <a:cs typeface="Roboto"/>
              </a:rPr>
              <a:t>E-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Learning</a:t>
            </a:r>
            <a:r>
              <a:rPr sz="120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bozori</a:t>
            </a:r>
            <a:r>
              <a:rPr sz="120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$4</a:t>
            </a:r>
            <a:r>
              <a:rPr lang="ru-RU" sz="1200" b="1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lang="en-US" sz="1200" b="1" dirty="0" err="1">
                <a:solidFill>
                  <a:srgbClr val="CFD0D8"/>
                </a:solidFill>
                <a:latin typeface="Roboto"/>
                <a:cs typeface="Roboto"/>
              </a:rPr>
              <a:t>mlrd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200" b="1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(HolonIQ,</a:t>
            </a:r>
            <a:r>
              <a:rPr sz="120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2024).</a:t>
            </a:r>
            <a:endParaRPr sz="12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Industrial</a:t>
            </a:r>
            <a:r>
              <a:rPr sz="12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VR</a:t>
            </a:r>
            <a:r>
              <a:rPr sz="120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Training</a:t>
            </a:r>
            <a:r>
              <a:rPr sz="12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bozori</a:t>
            </a:r>
            <a:r>
              <a:rPr sz="12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yiliga</a:t>
            </a:r>
            <a:r>
              <a:rPr sz="12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CFD0D8"/>
                </a:solidFill>
                <a:latin typeface="Roboto"/>
                <a:cs typeface="Roboto"/>
              </a:rPr>
              <a:t>~40%</a:t>
            </a:r>
            <a:r>
              <a:rPr sz="1200" b="1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o'smoqda.</a:t>
            </a:r>
            <a:endParaRPr sz="12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00" i="1" spc="-10" dirty="0">
                <a:solidFill>
                  <a:srgbClr val="CFD0D8"/>
                </a:solidFill>
                <a:latin typeface="Roboto"/>
                <a:cs typeface="Roboto"/>
              </a:rPr>
              <a:t>(Estimate</a:t>
            </a:r>
            <a:r>
              <a:rPr sz="1400" i="1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400" i="1" dirty="0">
                <a:solidFill>
                  <a:srgbClr val="CFD0D8"/>
                </a:solidFill>
                <a:latin typeface="Roboto"/>
                <a:cs typeface="Roboto"/>
              </a:rPr>
              <a:t>/</a:t>
            </a:r>
            <a:r>
              <a:rPr sz="1400" i="1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400" i="1" spc="-30" dirty="0">
                <a:solidFill>
                  <a:srgbClr val="CFD0D8"/>
                </a:solidFill>
                <a:latin typeface="Roboto"/>
                <a:cs typeface="Roboto"/>
              </a:rPr>
              <a:t>Taxminiy</a:t>
            </a:r>
            <a:r>
              <a:rPr sz="1400" i="1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400" i="1" spc="-10" dirty="0">
                <a:solidFill>
                  <a:srgbClr val="CFD0D8"/>
                </a:solidFill>
                <a:latin typeface="Roboto"/>
                <a:cs typeface="Roboto"/>
              </a:rPr>
              <a:t>hisob)</a:t>
            </a:r>
            <a:endParaRPr sz="1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SAM</a:t>
            </a:r>
            <a:r>
              <a:rPr sz="1600" spc="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—</a:t>
            </a:r>
            <a:r>
              <a:rPr sz="1600" spc="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boto Lt"/>
                <a:cs typeface="Roboto Lt"/>
              </a:rPr>
              <a:t>O'zbekiston</a:t>
            </a:r>
            <a:endParaRPr sz="1600" dirty="0">
              <a:latin typeface="Roboto Lt"/>
              <a:cs typeface="Roboto Lt"/>
            </a:endParaRPr>
          </a:p>
          <a:p>
            <a:pPr marL="12700" marR="31115">
              <a:lnSpc>
                <a:spcPct val="138600"/>
              </a:lnSpc>
              <a:spcBef>
                <a:spcPts val="1025"/>
              </a:spcBef>
            </a:pPr>
            <a:r>
              <a:rPr sz="1200" dirty="0" err="1">
                <a:solidFill>
                  <a:srgbClr val="CFD0D8"/>
                </a:solidFill>
                <a:latin typeface="Roboto"/>
                <a:cs typeface="Roboto"/>
              </a:rPr>
              <a:t>Navoiy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,</a:t>
            </a:r>
            <a:r>
              <a:rPr lang="en-US" sz="1200" dirty="0">
                <a:solidFill>
                  <a:srgbClr val="CFD0D8"/>
                </a:solidFill>
                <a:latin typeface="Roboto"/>
                <a:cs typeface="Roboto"/>
              </a:rPr>
              <a:t> Toshkent ,</a:t>
            </a:r>
            <a:r>
              <a:rPr sz="12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Qashqadaryo,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Buxoro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2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FD0D8"/>
                </a:solidFill>
                <a:latin typeface="Roboto"/>
                <a:cs typeface="Roboto"/>
              </a:rPr>
              <a:t>kon-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metallurgiya,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kimyo,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energetika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yirik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ishlab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chiqarish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korxonalari.</a:t>
            </a:r>
            <a:r>
              <a:rPr sz="120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Texnik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ta'lim</a:t>
            </a:r>
            <a:r>
              <a:rPr sz="12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muassasalari</a:t>
            </a:r>
            <a:r>
              <a:rPr sz="12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2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korporativ</a:t>
            </a:r>
            <a:r>
              <a:rPr sz="12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r>
              <a:rPr sz="12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markazlari.</a:t>
            </a: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SOM</a:t>
            </a:r>
            <a:r>
              <a:rPr sz="1600" spc="-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—</a:t>
            </a:r>
            <a:r>
              <a:rPr sz="1600" spc="-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FFFFFF"/>
                </a:solidFill>
                <a:latin typeface="Roboto Lt"/>
                <a:cs typeface="Roboto Lt"/>
              </a:rPr>
              <a:t>Pilot </a:t>
            </a:r>
            <a:r>
              <a:rPr sz="1600" spc="-20" dirty="0">
                <a:solidFill>
                  <a:srgbClr val="FFFFFF"/>
                </a:solidFill>
                <a:latin typeface="Roboto Lt"/>
                <a:cs typeface="Roboto Lt"/>
              </a:rPr>
              <a:t>bozor</a:t>
            </a:r>
            <a:endParaRPr sz="16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Dastlab Navoiy viloyatidagi</a:t>
            </a:r>
            <a:r>
              <a:rPr sz="12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sanoat va ta'lim</a:t>
            </a:r>
            <a:r>
              <a:rPr sz="12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ekotizimi.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Keyinchalik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O'zbekiston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bo'ylab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sanoat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korxonalari.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FD0D8"/>
                </a:solidFill>
                <a:latin typeface="Roboto"/>
                <a:cs typeface="Roboto"/>
              </a:rPr>
              <a:t>Uzoq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muddatda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Markaziy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Osiyo</a:t>
            </a:r>
            <a:r>
              <a:rPr sz="12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bozori.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5400" y="2090070"/>
            <a:ext cx="5991224" cy="599122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0074" y="8743949"/>
            <a:ext cx="3314700" cy="1123950"/>
            <a:chOff x="600074" y="7896224"/>
            <a:chExt cx="3314700" cy="1123950"/>
          </a:xfrm>
        </p:grpSpPr>
        <p:sp>
          <p:nvSpPr>
            <p:cNvPr id="9" name="object 9"/>
            <p:cNvSpPr/>
            <p:nvPr/>
          </p:nvSpPr>
          <p:spPr>
            <a:xfrm>
              <a:off x="604837" y="7900986"/>
              <a:ext cx="3305175" cy="1114425"/>
            </a:xfrm>
            <a:custGeom>
              <a:avLst/>
              <a:gdLst/>
              <a:ahLst/>
              <a:cxnLst/>
              <a:rect l="l" t="t" r="r" b="b"/>
              <a:pathLst>
                <a:path w="3305175" h="1114425">
                  <a:moveTo>
                    <a:pt x="3263761" y="1114424"/>
                  </a:moveTo>
                  <a:lnTo>
                    <a:pt x="41412" y="1114424"/>
                  </a:lnTo>
                  <a:lnTo>
                    <a:pt x="35322" y="1113212"/>
                  </a:lnTo>
                  <a:lnTo>
                    <a:pt x="1211" y="1079101"/>
                  </a:lnTo>
                  <a:lnTo>
                    <a:pt x="0" y="1073011"/>
                  </a:lnTo>
                  <a:lnTo>
                    <a:pt x="0" y="1066680"/>
                  </a:lnTo>
                  <a:lnTo>
                    <a:pt x="0" y="41412"/>
                  </a:lnTo>
                  <a:lnTo>
                    <a:pt x="23623" y="6055"/>
                  </a:lnTo>
                  <a:lnTo>
                    <a:pt x="41412" y="0"/>
                  </a:lnTo>
                  <a:lnTo>
                    <a:pt x="3263761" y="0"/>
                  </a:lnTo>
                  <a:lnTo>
                    <a:pt x="3299116" y="23622"/>
                  </a:lnTo>
                  <a:lnTo>
                    <a:pt x="3305174" y="41412"/>
                  </a:lnTo>
                  <a:lnTo>
                    <a:pt x="3305174" y="1073011"/>
                  </a:lnTo>
                  <a:lnTo>
                    <a:pt x="3281550" y="1108366"/>
                  </a:lnTo>
                  <a:lnTo>
                    <a:pt x="3269851" y="1113212"/>
                  </a:lnTo>
                  <a:lnTo>
                    <a:pt x="3263761" y="111442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04837" y="7900986"/>
              <a:ext cx="3305175" cy="1114425"/>
            </a:xfrm>
            <a:custGeom>
              <a:avLst/>
              <a:gdLst/>
              <a:ahLst/>
              <a:cxnLst/>
              <a:rect l="l" t="t" r="r" b="b"/>
              <a:pathLst>
                <a:path w="3305175" h="1114425">
                  <a:moveTo>
                    <a:pt x="0" y="106668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7" y="23622"/>
                  </a:lnTo>
                  <a:lnTo>
                    <a:pt x="9506" y="18459"/>
                  </a:lnTo>
                  <a:lnTo>
                    <a:pt x="13983" y="13982"/>
                  </a:lnTo>
                  <a:lnTo>
                    <a:pt x="18460" y="9505"/>
                  </a:lnTo>
                  <a:lnTo>
                    <a:pt x="23623" y="6055"/>
                  </a:lnTo>
                  <a:lnTo>
                    <a:pt x="29473" y="3632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3257430" y="0"/>
                  </a:lnTo>
                  <a:lnTo>
                    <a:pt x="3263761" y="0"/>
                  </a:lnTo>
                  <a:lnTo>
                    <a:pt x="3269851" y="1211"/>
                  </a:lnTo>
                  <a:lnTo>
                    <a:pt x="3301539" y="29472"/>
                  </a:lnTo>
                  <a:lnTo>
                    <a:pt x="3303962" y="35321"/>
                  </a:lnTo>
                  <a:lnTo>
                    <a:pt x="3305174" y="41412"/>
                  </a:lnTo>
                  <a:lnTo>
                    <a:pt x="3305174" y="47744"/>
                  </a:lnTo>
                  <a:lnTo>
                    <a:pt x="3305174" y="1066680"/>
                  </a:lnTo>
                  <a:lnTo>
                    <a:pt x="3305174" y="1073011"/>
                  </a:lnTo>
                  <a:lnTo>
                    <a:pt x="3303962" y="1079100"/>
                  </a:lnTo>
                  <a:lnTo>
                    <a:pt x="3301540" y="1084949"/>
                  </a:lnTo>
                  <a:lnTo>
                    <a:pt x="3299117" y="1090799"/>
                  </a:lnTo>
                  <a:lnTo>
                    <a:pt x="3263761" y="1114424"/>
                  </a:lnTo>
                  <a:lnTo>
                    <a:pt x="3257430" y="1114424"/>
                  </a:lnTo>
                  <a:lnTo>
                    <a:pt x="47744" y="1114424"/>
                  </a:lnTo>
                  <a:lnTo>
                    <a:pt x="41412" y="1114424"/>
                  </a:lnTo>
                  <a:lnTo>
                    <a:pt x="35322" y="1113212"/>
                  </a:lnTo>
                  <a:lnTo>
                    <a:pt x="29473" y="1110789"/>
                  </a:lnTo>
                  <a:lnTo>
                    <a:pt x="23623" y="1108366"/>
                  </a:lnTo>
                  <a:lnTo>
                    <a:pt x="0" y="1073011"/>
                  </a:lnTo>
                  <a:lnTo>
                    <a:pt x="0" y="1066680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6918" y="8867647"/>
            <a:ext cx="2843530" cy="8205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CFD0D8"/>
                </a:solidFill>
                <a:latin typeface="Roboto Lt"/>
                <a:cs typeface="Roboto Lt"/>
              </a:rPr>
              <a:t>Asosiy</a:t>
            </a:r>
            <a:r>
              <a:rPr sz="1600" spc="3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CFD0D8"/>
                </a:solidFill>
                <a:latin typeface="Roboto Lt"/>
                <a:cs typeface="Roboto Lt"/>
              </a:rPr>
              <a:t>mijozlar</a:t>
            </a:r>
            <a:endParaRPr sz="1600" dirty="0">
              <a:latin typeface="Roboto Lt"/>
              <a:cs typeface="Roboto Lt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200" spc="-20" dirty="0">
                <a:solidFill>
                  <a:srgbClr val="CFD0D8"/>
                </a:solidFill>
                <a:latin typeface="Roboto"/>
                <a:cs typeface="Roboto"/>
              </a:rPr>
              <a:t>Kon-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metallurgiya,</a:t>
            </a:r>
            <a:r>
              <a:rPr sz="120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kimyo,</a:t>
            </a:r>
            <a:r>
              <a:rPr sz="120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energetika,</a:t>
            </a:r>
            <a:r>
              <a:rPr sz="1200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ishlab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chiqarish</a:t>
            </a:r>
            <a:r>
              <a:rPr sz="120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korxonalari</a:t>
            </a:r>
            <a:endParaRPr sz="1200" dirty="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57649" y="8743949"/>
            <a:ext cx="3314700" cy="1123950"/>
            <a:chOff x="4057649" y="7896224"/>
            <a:chExt cx="3314700" cy="1123950"/>
          </a:xfrm>
        </p:grpSpPr>
        <p:sp>
          <p:nvSpPr>
            <p:cNvPr id="13" name="object 13"/>
            <p:cNvSpPr/>
            <p:nvPr/>
          </p:nvSpPr>
          <p:spPr>
            <a:xfrm>
              <a:off x="4062411" y="7900986"/>
              <a:ext cx="3305175" cy="1114425"/>
            </a:xfrm>
            <a:custGeom>
              <a:avLst/>
              <a:gdLst/>
              <a:ahLst/>
              <a:cxnLst/>
              <a:rect l="l" t="t" r="r" b="b"/>
              <a:pathLst>
                <a:path w="3305175" h="1114425">
                  <a:moveTo>
                    <a:pt x="3263761" y="1114424"/>
                  </a:moveTo>
                  <a:lnTo>
                    <a:pt x="41412" y="1114424"/>
                  </a:lnTo>
                  <a:lnTo>
                    <a:pt x="35322" y="1113212"/>
                  </a:lnTo>
                  <a:lnTo>
                    <a:pt x="1211" y="1079101"/>
                  </a:lnTo>
                  <a:lnTo>
                    <a:pt x="0" y="1073011"/>
                  </a:lnTo>
                  <a:lnTo>
                    <a:pt x="0" y="1066680"/>
                  </a:lnTo>
                  <a:lnTo>
                    <a:pt x="0" y="41412"/>
                  </a:lnTo>
                  <a:lnTo>
                    <a:pt x="23623" y="6055"/>
                  </a:lnTo>
                  <a:lnTo>
                    <a:pt x="41412" y="0"/>
                  </a:lnTo>
                  <a:lnTo>
                    <a:pt x="3263761" y="0"/>
                  </a:lnTo>
                  <a:lnTo>
                    <a:pt x="3299116" y="23622"/>
                  </a:lnTo>
                  <a:lnTo>
                    <a:pt x="3305174" y="41412"/>
                  </a:lnTo>
                  <a:lnTo>
                    <a:pt x="3305174" y="1073011"/>
                  </a:lnTo>
                  <a:lnTo>
                    <a:pt x="3281550" y="1108366"/>
                  </a:lnTo>
                  <a:lnTo>
                    <a:pt x="3269851" y="1113212"/>
                  </a:lnTo>
                  <a:lnTo>
                    <a:pt x="3263761" y="111442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062411" y="7900986"/>
              <a:ext cx="3305175" cy="1114425"/>
            </a:xfrm>
            <a:custGeom>
              <a:avLst/>
              <a:gdLst/>
              <a:ahLst/>
              <a:cxnLst/>
              <a:rect l="l" t="t" r="r" b="b"/>
              <a:pathLst>
                <a:path w="3305175" h="1114425">
                  <a:moveTo>
                    <a:pt x="0" y="106668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6" y="23622"/>
                  </a:lnTo>
                  <a:lnTo>
                    <a:pt x="9506" y="18459"/>
                  </a:lnTo>
                  <a:lnTo>
                    <a:pt x="13984" y="13982"/>
                  </a:lnTo>
                  <a:lnTo>
                    <a:pt x="18460" y="9505"/>
                  </a:lnTo>
                  <a:lnTo>
                    <a:pt x="23623" y="6055"/>
                  </a:lnTo>
                  <a:lnTo>
                    <a:pt x="29473" y="3632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3257430" y="0"/>
                  </a:lnTo>
                  <a:lnTo>
                    <a:pt x="3263761" y="0"/>
                  </a:lnTo>
                  <a:lnTo>
                    <a:pt x="3269851" y="1211"/>
                  </a:lnTo>
                  <a:lnTo>
                    <a:pt x="3301539" y="29472"/>
                  </a:lnTo>
                  <a:lnTo>
                    <a:pt x="3305175" y="47744"/>
                  </a:lnTo>
                  <a:lnTo>
                    <a:pt x="3305175" y="1066680"/>
                  </a:lnTo>
                  <a:lnTo>
                    <a:pt x="3305174" y="1073011"/>
                  </a:lnTo>
                  <a:lnTo>
                    <a:pt x="3303962" y="1079100"/>
                  </a:lnTo>
                  <a:lnTo>
                    <a:pt x="3301539" y="1084949"/>
                  </a:lnTo>
                  <a:lnTo>
                    <a:pt x="3299116" y="1090799"/>
                  </a:lnTo>
                  <a:lnTo>
                    <a:pt x="3263761" y="1114424"/>
                  </a:lnTo>
                  <a:lnTo>
                    <a:pt x="3257430" y="1114424"/>
                  </a:lnTo>
                  <a:lnTo>
                    <a:pt x="47744" y="1114424"/>
                  </a:lnTo>
                  <a:lnTo>
                    <a:pt x="41412" y="1114424"/>
                  </a:lnTo>
                  <a:lnTo>
                    <a:pt x="35322" y="1113212"/>
                  </a:lnTo>
                  <a:lnTo>
                    <a:pt x="29473" y="1110789"/>
                  </a:lnTo>
                  <a:lnTo>
                    <a:pt x="23623" y="1108366"/>
                  </a:lnTo>
                  <a:lnTo>
                    <a:pt x="0" y="1073011"/>
                  </a:lnTo>
                  <a:lnTo>
                    <a:pt x="0" y="1066680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06875" y="8867647"/>
            <a:ext cx="2955925" cy="8205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20" dirty="0">
                <a:solidFill>
                  <a:srgbClr val="CFD0D8"/>
                </a:solidFill>
                <a:latin typeface="Roboto Lt"/>
                <a:cs typeface="Roboto Lt"/>
              </a:rPr>
              <a:t>Ta'lim</a:t>
            </a:r>
            <a:r>
              <a:rPr sz="1600" spc="-3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CFD0D8"/>
                </a:solidFill>
                <a:latin typeface="Roboto Lt"/>
                <a:cs typeface="Roboto Lt"/>
              </a:rPr>
              <a:t>sektori</a:t>
            </a:r>
            <a:endParaRPr sz="1600" dirty="0">
              <a:latin typeface="Roboto Lt"/>
              <a:cs typeface="Roboto Lt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Texnikumlar,</a:t>
            </a:r>
            <a:r>
              <a:rPr sz="120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universitetlar,</a:t>
            </a:r>
            <a:r>
              <a:rPr sz="1200" spc="-25" dirty="0">
                <a:solidFill>
                  <a:srgbClr val="CFD0D8"/>
                </a:solidFill>
                <a:latin typeface="Roboto"/>
                <a:cs typeface="Roboto"/>
              </a:rPr>
              <a:t> kasb-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hunar</a:t>
            </a:r>
            <a:r>
              <a:rPr sz="120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ta'lim markazlari</a:t>
            </a:r>
            <a:endParaRPr sz="1200" dirty="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24748" y="8743949"/>
            <a:ext cx="3305175" cy="1123950"/>
            <a:chOff x="7524748" y="7896224"/>
            <a:chExt cx="3305175" cy="1123950"/>
          </a:xfrm>
        </p:grpSpPr>
        <p:sp>
          <p:nvSpPr>
            <p:cNvPr id="17" name="object 17"/>
            <p:cNvSpPr/>
            <p:nvPr/>
          </p:nvSpPr>
          <p:spPr>
            <a:xfrm>
              <a:off x="7529510" y="7900986"/>
              <a:ext cx="3295650" cy="1114425"/>
            </a:xfrm>
            <a:custGeom>
              <a:avLst/>
              <a:gdLst/>
              <a:ahLst/>
              <a:cxnLst/>
              <a:rect l="l" t="t" r="r" b="b"/>
              <a:pathLst>
                <a:path w="3295650" h="1114425">
                  <a:moveTo>
                    <a:pt x="3254237" y="1114424"/>
                  </a:moveTo>
                  <a:lnTo>
                    <a:pt x="41413" y="1114424"/>
                  </a:lnTo>
                  <a:lnTo>
                    <a:pt x="35322" y="1113212"/>
                  </a:lnTo>
                  <a:lnTo>
                    <a:pt x="1211" y="1079101"/>
                  </a:lnTo>
                  <a:lnTo>
                    <a:pt x="0" y="1073011"/>
                  </a:lnTo>
                  <a:lnTo>
                    <a:pt x="0" y="1066680"/>
                  </a:lnTo>
                  <a:lnTo>
                    <a:pt x="0" y="41412"/>
                  </a:lnTo>
                  <a:lnTo>
                    <a:pt x="23623" y="6055"/>
                  </a:lnTo>
                  <a:lnTo>
                    <a:pt x="41413" y="0"/>
                  </a:lnTo>
                  <a:lnTo>
                    <a:pt x="3254237" y="0"/>
                  </a:lnTo>
                  <a:lnTo>
                    <a:pt x="3289592" y="23622"/>
                  </a:lnTo>
                  <a:lnTo>
                    <a:pt x="3295649" y="41412"/>
                  </a:lnTo>
                  <a:lnTo>
                    <a:pt x="3295649" y="1073011"/>
                  </a:lnTo>
                  <a:lnTo>
                    <a:pt x="3272024" y="1108366"/>
                  </a:lnTo>
                  <a:lnTo>
                    <a:pt x="3260326" y="1113212"/>
                  </a:lnTo>
                  <a:lnTo>
                    <a:pt x="3254237" y="111442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529510" y="7900986"/>
              <a:ext cx="3295650" cy="1114425"/>
            </a:xfrm>
            <a:custGeom>
              <a:avLst/>
              <a:gdLst/>
              <a:ahLst/>
              <a:cxnLst/>
              <a:rect l="l" t="t" r="r" b="b"/>
              <a:pathLst>
                <a:path w="3295650" h="1114425">
                  <a:moveTo>
                    <a:pt x="0" y="106668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3" y="29472"/>
                  </a:lnTo>
                  <a:lnTo>
                    <a:pt x="6056" y="23622"/>
                  </a:lnTo>
                  <a:lnTo>
                    <a:pt x="9506" y="18459"/>
                  </a:lnTo>
                  <a:lnTo>
                    <a:pt x="13984" y="13982"/>
                  </a:lnTo>
                  <a:lnTo>
                    <a:pt x="18460" y="9505"/>
                  </a:lnTo>
                  <a:lnTo>
                    <a:pt x="23623" y="6055"/>
                  </a:lnTo>
                  <a:lnTo>
                    <a:pt x="29472" y="3632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3247906" y="0"/>
                  </a:lnTo>
                  <a:lnTo>
                    <a:pt x="3254237" y="0"/>
                  </a:lnTo>
                  <a:lnTo>
                    <a:pt x="3260326" y="1211"/>
                  </a:lnTo>
                  <a:lnTo>
                    <a:pt x="3292014" y="29472"/>
                  </a:lnTo>
                  <a:lnTo>
                    <a:pt x="3294437" y="35321"/>
                  </a:lnTo>
                  <a:lnTo>
                    <a:pt x="3295649" y="41412"/>
                  </a:lnTo>
                  <a:lnTo>
                    <a:pt x="3295650" y="47744"/>
                  </a:lnTo>
                  <a:lnTo>
                    <a:pt x="3295650" y="1066680"/>
                  </a:lnTo>
                  <a:lnTo>
                    <a:pt x="3295649" y="1073011"/>
                  </a:lnTo>
                  <a:lnTo>
                    <a:pt x="3294437" y="1079100"/>
                  </a:lnTo>
                  <a:lnTo>
                    <a:pt x="3292014" y="1084949"/>
                  </a:lnTo>
                  <a:lnTo>
                    <a:pt x="3289592" y="1090799"/>
                  </a:lnTo>
                  <a:lnTo>
                    <a:pt x="3254237" y="1114424"/>
                  </a:lnTo>
                  <a:lnTo>
                    <a:pt x="3247906" y="1114424"/>
                  </a:lnTo>
                  <a:lnTo>
                    <a:pt x="47744" y="1114424"/>
                  </a:lnTo>
                  <a:lnTo>
                    <a:pt x="41413" y="1114424"/>
                  </a:lnTo>
                  <a:lnTo>
                    <a:pt x="35322" y="1113212"/>
                  </a:lnTo>
                  <a:lnTo>
                    <a:pt x="29472" y="1110789"/>
                  </a:lnTo>
                  <a:lnTo>
                    <a:pt x="23623" y="1108366"/>
                  </a:lnTo>
                  <a:lnTo>
                    <a:pt x="3634" y="1084951"/>
                  </a:lnTo>
                  <a:lnTo>
                    <a:pt x="1211" y="1079101"/>
                  </a:lnTo>
                  <a:lnTo>
                    <a:pt x="0" y="1073011"/>
                  </a:lnTo>
                  <a:lnTo>
                    <a:pt x="0" y="1066680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66831" y="8867647"/>
            <a:ext cx="2634615" cy="8205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CFD0D8"/>
                </a:solidFill>
                <a:latin typeface="Roboto Lt"/>
                <a:cs typeface="Roboto Lt"/>
              </a:rPr>
              <a:t>Korporativ</a:t>
            </a:r>
            <a:r>
              <a:rPr sz="1600" spc="-6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CFD0D8"/>
                </a:solidFill>
                <a:latin typeface="Roboto Lt"/>
                <a:cs typeface="Roboto Lt"/>
              </a:rPr>
              <a:t>trening</a:t>
            </a:r>
            <a:endParaRPr sz="1600" dirty="0">
              <a:latin typeface="Roboto Lt"/>
              <a:cs typeface="Roboto Lt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Korxonalar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ichki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CFD0D8"/>
                </a:solidFill>
                <a:latin typeface="Roboto"/>
                <a:cs typeface="Roboto"/>
              </a:rPr>
              <a:t>o'quv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markazlari</a:t>
            </a:r>
            <a:r>
              <a:rPr sz="12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2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CFD0D8"/>
                </a:solidFill>
                <a:latin typeface="Roboto"/>
                <a:cs typeface="Roboto"/>
              </a:rPr>
              <a:t>HR </a:t>
            </a:r>
            <a:r>
              <a:rPr sz="1200" spc="-10" dirty="0">
                <a:solidFill>
                  <a:srgbClr val="CFD0D8"/>
                </a:solidFill>
                <a:latin typeface="Roboto"/>
                <a:cs typeface="Roboto"/>
              </a:rPr>
              <a:t>bo'limlari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4B33539-E58E-4E5A-BF75-A0AC89E07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424048"/>
            <a:ext cx="466436" cy="25009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2718866-D390-4B37-87C1-CDE7BBB83B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894" y="3471736"/>
            <a:ext cx="216692" cy="176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213E98F3-4593-4790-9165-A1A393D5B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9" y="2039524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0"/>
            <a:ext cx="11430000" cy="11410950"/>
          </a:xfrm>
          <a:custGeom>
            <a:avLst/>
            <a:gdLst/>
            <a:ahLst/>
            <a:cxnLst/>
            <a:rect l="l" t="t" r="r" b="b"/>
            <a:pathLst>
              <a:path w="11430000" h="8648700">
                <a:moveTo>
                  <a:pt x="11429999" y="8648699"/>
                </a:moveTo>
                <a:lnTo>
                  <a:pt x="0" y="86486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64869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0075" y="1743074"/>
            <a:ext cx="847726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582689" y="228599"/>
                </a:moveTo>
                <a:lnTo>
                  <a:pt x="36435" y="228599"/>
                </a:lnTo>
                <a:lnTo>
                  <a:pt x="31076" y="227534"/>
                </a:lnTo>
                <a:lnTo>
                  <a:pt x="1065" y="197523"/>
                </a:lnTo>
                <a:lnTo>
                  <a:pt x="0" y="192164"/>
                </a:lnTo>
                <a:lnTo>
                  <a:pt x="0" y="186594"/>
                </a:lnTo>
                <a:lnTo>
                  <a:pt x="0" y="36434"/>
                </a:lnTo>
                <a:lnTo>
                  <a:pt x="31076" y="1065"/>
                </a:lnTo>
                <a:lnTo>
                  <a:pt x="36435" y="0"/>
                </a:lnTo>
                <a:lnTo>
                  <a:pt x="582689" y="0"/>
                </a:lnTo>
                <a:lnTo>
                  <a:pt x="618059" y="31076"/>
                </a:lnTo>
                <a:lnTo>
                  <a:pt x="619124" y="36434"/>
                </a:lnTo>
                <a:lnTo>
                  <a:pt x="619124" y="192164"/>
                </a:lnTo>
                <a:lnTo>
                  <a:pt x="588048" y="227534"/>
                </a:lnTo>
                <a:lnTo>
                  <a:pt x="582689" y="228599"/>
                </a:lnTo>
                <a:close/>
              </a:path>
            </a:pathLst>
          </a:custGeom>
          <a:solidFill>
            <a:srgbClr val="0E1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267" y="1762759"/>
            <a:ext cx="922933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CFD0D8"/>
                </a:solidFill>
                <a:latin typeface="Roboto"/>
                <a:cs typeface="Roboto"/>
              </a:rPr>
              <a:t>YECHIM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2003075"/>
            <a:ext cx="58877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90" dirty="0" err="1"/>
              <a:t>SafetyLab</a:t>
            </a:r>
            <a:r>
              <a:rPr sz="2800" spc="-90" dirty="0"/>
              <a:t> </a:t>
            </a:r>
            <a:r>
              <a:rPr sz="2800" spc="-10" dirty="0"/>
              <a:t>qanday</a:t>
            </a:r>
            <a:r>
              <a:rPr sz="2800" spc="-90" dirty="0"/>
              <a:t> </a:t>
            </a:r>
            <a:r>
              <a:rPr sz="2800" spc="-10" dirty="0"/>
              <a:t>ishlaydi?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95386" y="2719461"/>
            <a:ext cx="10239375" cy="609600"/>
            <a:chOff x="595386" y="1395486"/>
            <a:chExt cx="10239375" cy="609600"/>
          </a:xfrm>
        </p:grpSpPr>
        <p:sp>
          <p:nvSpPr>
            <p:cNvPr id="7" name="object 7"/>
            <p:cNvSpPr/>
            <p:nvPr/>
          </p:nvSpPr>
          <p:spPr>
            <a:xfrm>
              <a:off x="600074" y="14001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600074"/>
                  </a:move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lnTo>
                    <a:pt x="3409949" y="300037"/>
                  </a:lnTo>
                  <a:lnTo>
                    <a:pt x="3259930" y="6000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74" y="14001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0"/>
                  </a:moveTo>
                  <a:lnTo>
                    <a:pt x="3409949" y="300037"/>
                  </a:lnTo>
                  <a:lnTo>
                    <a:pt x="3259930" y="600074"/>
                  </a:ln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close/>
                </a:path>
              </a:pathLst>
            </a:custGeom>
            <a:ln w="9376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5639" y="1585560"/>
              <a:ext cx="235088" cy="2351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10024" y="14001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600074"/>
                  </a:move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lnTo>
                    <a:pt x="3409949" y="300037"/>
                  </a:lnTo>
                  <a:lnTo>
                    <a:pt x="3259930" y="6000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10024" y="14001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0"/>
                  </a:moveTo>
                  <a:lnTo>
                    <a:pt x="3409949" y="300037"/>
                  </a:lnTo>
                  <a:lnTo>
                    <a:pt x="3259930" y="600074"/>
                  </a:ln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close/>
                </a:path>
              </a:pathLst>
            </a:custGeom>
            <a:ln w="9376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5716" y="1597357"/>
              <a:ext cx="234995" cy="2115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19974" y="14001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600074"/>
                  </a:move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lnTo>
                    <a:pt x="3409949" y="300037"/>
                  </a:lnTo>
                  <a:lnTo>
                    <a:pt x="3259930" y="6000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19974" y="14001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0"/>
                  </a:moveTo>
                  <a:lnTo>
                    <a:pt x="3409949" y="300037"/>
                  </a:lnTo>
                  <a:lnTo>
                    <a:pt x="3259930" y="600074"/>
                  </a:ln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close/>
                </a:path>
              </a:pathLst>
            </a:custGeom>
            <a:ln w="9376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5865" y="1585609"/>
              <a:ext cx="234894" cy="23503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37393" y="3447923"/>
            <a:ext cx="2804160" cy="9767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1.</a:t>
            </a:r>
            <a:r>
              <a:rPr sz="1400" spc="1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CFD0D8"/>
                </a:solidFill>
                <a:latin typeface="Roboto Lt"/>
                <a:cs typeface="Roboto Lt"/>
              </a:rPr>
              <a:t>Scenario</a:t>
            </a:r>
            <a:endParaRPr sz="14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yoki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instruktor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xavfsizlik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scenario'sini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tanlaydi: elektr avariyasi,</a:t>
            </a:r>
            <a:r>
              <a:rPr sz="11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yong'in, gaz</a:t>
            </a:r>
            <a:r>
              <a:rPr sz="11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sizib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chiqishi,</a:t>
            </a:r>
            <a:r>
              <a:rPr sz="110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kon</a:t>
            </a:r>
            <a:r>
              <a:rPr sz="110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texnikasi</a:t>
            </a:r>
            <a:r>
              <a:rPr sz="110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xavfi.</a:t>
            </a:r>
            <a:endParaRPr sz="1100" dirty="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7343" y="3447923"/>
            <a:ext cx="3056255" cy="9767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2.</a:t>
            </a:r>
            <a:r>
              <a:rPr sz="1400" spc="1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CFD0D8"/>
                </a:solidFill>
                <a:latin typeface="Roboto Lt"/>
                <a:cs typeface="Roboto Lt"/>
              </a:rPr>
              <a:t>Experience</a:t>
            </a:r>
            <a:endParaRPr sz="14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Xodim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VR/XR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muhitiga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kiradi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scenario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ichida</a:t>
            </a:r>
            <a:r>
              <a:rPr sz="11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mustaqil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harakat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qiladi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real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stress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va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vaqt</a:t>
            </a:r>
            <a:r>
              <a:rPr sz="110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bosimi</a:t>
            </a:r>
            <a:r>
              <a:rPr sz="110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bilan.</a:t>
            </a:r>
            <a:endParaRPr sz="1100" dirty="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7293" y="3447923"/>
            <a:ext cx="3117850" cy="7465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3.</a:t>
            </a:r>
            <a:r>
              <a:rPr sz="1400" spc="2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Action</a:t>
            </a:r>
            <a:r>
              <a:rPr sz="1400" spc="-10" dirty="0">
                <a:solidFill>
                  <a:srgbClr val="CFD0D8"/>
                </a:solidFill>
                <a:latin typeface="Roboto Lt"/>
                <a:cs typeface="Roboto Lt"/>
              </a:rPr>
              <a:t> Tracking</a:t>
            </a:r>
            <a:endParaRPr sz="14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Tizim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qaror,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harakatlar</a:t>
            </a:r>
            <a:r>
              <a:rPr sz="110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ketma-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ketligi,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reaksiya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vaqti</a:t>
            </a:r>
            <a:r>
              <a:rPr sz="11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xatolarni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real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vaqtga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yaqin</a:t>
            </a:r>
            <a:r>
              <a:rPr sz="11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qayd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qiladi.</a:t>
            </a:r>
            <a:endParaRPr sz="1100" dirty="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5386" y="4662561"/>
            <a:ext cx="6829425" cy="609600"/>
            <a:chOff x="595386" y="3338586"/>
            <a:chExt cx="6829425" cy="609600"/>
          </a:xfrm>
        </p:grpSpPr>
        <p:sp>
          <p:nvSpPr>
            <p:cNvPr id="20" name="object 20"/>
            <p:cNvSpPr/>
            <p:nvPr/>
          </p:nvSpPr>
          <p:spPr>
            <a:xfrm>
              <a:off x="600074" y="33432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600074"/>
                  </a:move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lnTo>
                    <a:pt x="3409949" y="300037"/>
                  </a:lnTo>
                  <a:lnTo>
                    <a:pt x="3259930" y="6000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74" y="33432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0"/>
                  </a:moveTo>
                  <a:lnTo>
                    <a:pt x="3409949" y="300037"/>
                  </a:lnTo>
                  <a:lnTo>
                    <a:pt x="3259930" y="600074"/>
                  </a:ln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close/>
                </a:path>
              </a:pathLst>
            </a:custGeom>
            <a:ln w="9376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5227" y="3537288"/>
              <a:ext cx="236073" cy="2179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010024" y="33432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600074"/>
                  </a:move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lnTo>
                    <a:pt x="3409949" y="300037"/>
                  </a:lnTo>
                  <a:lnTo>
                    <a:pt x="3259930" y="6000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10024" y="3343274"/>
              <a:ext cx="3409950" cy="600075"/>
            </a:xfrm>
            <a:custGeom>
              <a:avLst/>
              <a:gdLst/>
              <a:ahLst/>
              <a:cxnLst/>
              <a:rect l="l" t="t" r="r" b="b"/>
              <a:pathLst>
                <a:path w="3409950" h="600075">
                  <a:moveTo>
                    <a:pt x="3259930" y="0"/>
                  </a:moveTo>
                  <a:lnTo>
                    <a:pt x="3409949" y="300037"/>
                  </a:lnTo>
                  <a:lnTo>
                    <a:pt x="3259930" y="600074"/>
                  </a:lnTo>
                  <a:lnTo>
                    <a:pt x="0" y="600074"/>
                  </a:lnTo>
                  <a:lnTo>
                    <a:pt x="150018" y="300037"/>
                  </a:lnTo>
                  <a:lnTo>
                    <a:pt x="0" y="0"/>
                  </a:lnTo>
                  <a:lnTo>
                    <a:pt x="3259930" y="0"/>
                  </a:lnTo>
                  <a:close/>
                </a:path>
              </a:pathLst>
            </a:custGeom>
            <a:ln w="9376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12527" y="3528791"/>
              <a:ext cx="201362" cy="23499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37393" y="5391022"/>
            <a:ext cx="2957830" cy="9767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4.</a:t>
            </a:r>
            <a:r>
              <a:rPr sz="1400" spc="3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AI</a:t>
            </a:r>
            <a:r>
              <a:rPr sz="1400" spc="3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CFD0D8"/>
                </a:solidFill>
                <a:latin typeface="Roboto Lt"/>
                <a:cs typeface="Roboto Lt"/>
              </a:rPr>
              <a:t>Analysis</a:t>
            </a:r>
            <a:endParaRPr sz="14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xatolarni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aniqlaydi,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qarorlarni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baholaydi,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xavfsizlik</a:t>
            </a:r>
            <a:r>
              <a:rPr sz="110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protokoliga</a:t>
            </a:r>
            <a:r>
              <a:rPr sz="1100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mosligini</a:t>
            </a:r>
            <a:r>
              <a:rPr sz="110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tekshiradi</a:t>
            </a:r>
            <a:r>
              <a:rPr sz="1100" spc="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va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reaksiyani</a:t>
            </a:r>
            <a:r>
              <a:rPr sz="11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tahlil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qiladi.</a:t>
            </a:r>
            <a:endParaRPr sz="1100" dirty="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7343" y="5391022"/>
            <a:ext cx="2911475" cy="9767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5.</a:t>
            </a:r>
            <a:r>
              <a:rPr sz="1400" spc="1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CFD0D8"/>
                </a:solidFill>
                <a:latin typeface="Roboto Lt"/>
                <a:cs typeface="Roboto Lt"/>
              </a:rPr>
              <a:t>Personal</a:t>
            </a:r>
            <a:r>
              <a:rPr sz="1400" spc="1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CFD0D8"/>
                </a:solidFill>
                <a:latin typeface="Roboto Lt"/>
                <a:cs typeface="Roboto Lt"/>
              </a:rPr>
              <a:t>Feedback</a:t>
            </a:r>
            <a:endParaRPr sz="1400" dirty="0">
              <a:latin typeface="Roboto Lt"/>
              <a:cs typeface="Roboto Lt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nima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0" dirty="0">
                <a:solidFill>
                  <a:srgbClr val="CFD0D8"/>
                </a:solidFill>
                <a:latin typeface="Roboto"/>
                <a:cs typeface="Roboto"/>
              </a:rPr>
              <a:t>noto'g'ri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bo'lganini,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nima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uchun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va to'g'ri</a:t>
            </a:r>
            <a:r>
              <a:rPr sz="110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harakat qanday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bo'lishini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tushuntiradi.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Keyingi</a:t>
            </a:r>
            <a:r>
              <a:rPr sz="110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mashq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uchun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tavsiyalar</a:t>
            </a:r>
            <a:r>
              <a:rPr sz="110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FD0D8"/>
                </a:solidFill>
                <a:latin typeface="Roboto"/>
                <a:cs typeface="Roboto"/>
              </a:rPr>
              <a:t>beriladi.</a:t>
            </a:r>
            <a:endParaRPr sz="1100" dirty="0">
              <a:latin typeface="Roboto"/>
              <a:cs typeface="Robo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5299" y="6781799"/>
            <a:ext cx="5143500" cy="2771775"/>
          </a:xfrm>
          <a:custGeom>
            <a:avLst/>
            <a:gdLst/>
            <a:ahLst/>
            <a:cxnLst/>
            <a:rect l="l" t="t" r="r" b="b"/>
            <a:pathLst>
              <a:path w="5143500" h="2771775">
                <a:moveTo>
                  <a:pt x="5059398" y="2771774"/>
                </a:moveTo>
                <a:lnTo>
                  <a:pt x="84101" y="2771774"/>
                </a:lnTo>
                <a:lnTo>
                  <a:pt x="78247" y="2771197"/>
                </a:lnTo>
                <a:lnTo>
                  <a:pt x="35089" y="2753320"/>
                </a:lnTo>
                <a:lnTo>
                  <a:pt x="9113" y="2721668"/>
                </a:lnTo>
                <a:lnTo>
                  <a:pt x="0" y="2687672"/>
                </a:lnTo>
                <a:lnTo>
                  <a:pt x="0" y="2681763"/>
                </a:lnTo>
                <a:lnTo>
                  <a:pt x="0" y="84100"/>
                </a:lnTo>
                <a:lnTo>
                  <a:pt x="11886" y="44917"/>
                </a:lnTo>
                <a:lnTo>
                  <a:pt x="44917" y="11885"/>
                </a:lnTo>
                <a:lnTo>
                  <a:pt x="84101" y="0"/>
                </a:lnTo>
                <a:lnTo>
                  <a:pt x="5059398" y="0"/>
                </a:lnTo>
                <a:lnTo>
                  <a:pt x="5098581" y="11885"/>
                </a:lnTo>
                <a:lnTo>
                  <a:pt x="5131612" y="44917"/>
                </a:lnTo>
                <a:lnTo>
                  <a:pt x="5143499" y="84100"/>
                </a:lnTo>
                <a:lnTo>
                  <a:pt x="5143499" y="2687672"/>
                </a:lnTo>
                <a:lnTo>
                  <a:pt x="5131612" y="2726854"/>
                </a:lnTo>
                <a:lnTo>
                  <a:pt x="5098580" y="2759887"/>
                </a:lnTo>
                <a:lnTo>
                  <a:pt x="5065251" y="2771197"/>
                </a:lnTo>
                <a:lnTo>
                  <a:pt x="5059398" y="2771774"/>
                </a:lnTo>
                <a:close/>
              </a:path>
            </a:pathLst>
          </a:custGeom>
          <a:solidFill>
            <a:srgbClr val="596ED8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9493" y="6872180"/>
            <a:ext cx="1252855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latin typeface="Segoe UI Symbol"/>
                <a:cs typeface="Segoe UI Symbol"/>
              </a:rPr>
              <a:t>💡</a:t>
            </a:r>
            <a:r>
              <a:rPr sz="1600" spc="105" dirty="0"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FFFFFF"/>
                </a:solidFill>
                <a:latin typeface="Roboto Lt"/>
                <a:cs typeface="Roboto Lt"/>
              </a:rPr>
              <a:t>Asosiy</a:t>
            </a:r>
            <a:r>
              <a:rPr sz="1400" spc="-4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 Lt"/>
                <a:cs typeface="Roboto Lt"/>
              </a:rPr>
              <a:t>farq</a:t>
            </a:r>
            <a:endParaRPr sz="1400" dirty="0">
              <a:latin typeface="Roboto Lt"/>
              <a:cs typeface="Roboto 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9493" y="7265828"/>
            <a:ext cx="4643120" cy="6798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00" dirty="0">
                <a:latin typeface="Roboto"/>
                <a:cs typeface="Roboto"/>
              </a:rPr>
              <a:t>AI</a:t>
            </a:r>
            <a:r>
              <a:rPr sz="1100" spc="30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faqat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test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natijasini</a:t>
            </a:r>
            <a:r>
              <a:rPr sz="1100" spc="30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emas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—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xodimning</a:t>
            </a:r>
            <a:r>
              <a:rPr sz="1100" spc="30" dirty="0">
                <a:latin typeface="Roboto"/>
                <a:cs typeface="Roboto"/>
              </a:rPr>
              <a:t> </a:t>
            </a:r>
            <a:r>
              <a:rPr sz="1100" b="1" dirty="0">
                <a:latin typeface="Roboto"/>
                <a:cs typeface="Roboto"/>
              </a:rPr>
              <a:t>xavfli</a:t>
            </a:r>
            <a:r>
              <a:rPr sz="1100" b="1" spc="35" dirty="0">
                <a:latin typeface="Roboto"/>
                <a:cs typeface="Roboto"/>
              </a:rPr>
              <a:t> </a:t>
            </a:r>
            <a:r>
              <a:rPr sz="1100" b="1" spc="-10" dirty="0">
                <a:latin typeface="Roboto"/>
                <a:cs typeface="Roboto"/>
              </a:rPr>
              <a:t>vaziyatdagi </a:t>
            </a:r>
            <a:r>
              <a:rPr sz="1100" b="1" dirty="0">
                <a:latin typeface="Roboto"/>
                <a:cs typeface="Roboto"/>
              </a:rPr>
              <a:t>HARAKATINI</a:t>
            </a:r>
            <a:r>
              <a:rPr sz="1100" b="1" spc="30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tahlil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qiladi.</a:t>
            </a:r>
            <a:r>
              <a:rPr sz="1100" spc="30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Qaror,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spc="-25" dirty="0">
                <a:latin typeface="Roboto"/>
                <a:cs typeface="Roboto"/>
              </a:rPr>
              <a:t>ketma-</a:t>
            </a:r>
            <a:r>
              <a:rPr sz="1100" dirty="0">
                <a:latin typeface="Roboto"/>
                <a:cs typeface="Roboto"/>
              </a:rPr>
              <a:t>ketlik,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reaksiya</a:t>
            </a:r>
            <a:r>
              <a:rPr sz="1100" spc="30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vaqti</a:t>
            </a:r>
            <a:r>
              <a:rPr sz="1100" spc="3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va</a:t>
            </a:r>
            <a:r>
              <a:rPr sz="1100" spc="30" dirty="0">
                <a:latin typeface="Roboto"/>
                <a:cs typeface="Roboto"/>
              </a:rPr>
              <a:t> </a:t>
            </a:r>
            <a:r>
              <a:rPr sz="1100" spc="-10" dirty="0">
                <a:latin typeface="Roboto"/>
                <a:cs typeface="Roboto"/>
              </a:rPr>
              <a:t>xatolar </a:t>
            </a:r>
            <a:r>
              <a:rPr sz="1100" dirty="0">
                <a:latin typeface="Roboto"/>
                <a:cs typeface="Roboto"/>
              </a:rPr>
              <a:t>asosida</a:t>
            </a:r>
            <a:r>
              <a:rPr sz="1100" spc="50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individual</a:t>
            </a:r>
            <a:r>
              <a:rPr sz="1100" spc="55" dirty="0">
                <a:latin typeface="Roboto"/>
                <a:cs typeface="Roboto"/>
              </a:rPr>
              <a:t> </a:t>
            </a:r>
            <a:r>
              <a:rPr sz="1100" dirty="0">
                <a:latin typeface="Roboto"/>
                <a:cs typeface="Roboto"/>
              </a:rPr>
              <a:t>feedback</a:t>
            </a:r>
            <a:r>
              <a:rPr sz="1100" spc="55" dirty="0">
                <a:latin typeface="Roboto"/>
                <a:cs typeface="Roboto"/>
              </a:rPr>
              <a:t> </a:t>
            </a:r>
            <a:r>
              <a:rPr sz="1100" spc="-10" dirty="0">
                <a:latin typeface="Roboto"/>
                <a:cs typeface="Roboto"/>
              </a:rPr>
              <a:t>beriladi.</a:t>
            </a:r>
            <a:endParaRPr sz="1100" dirty="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94734" y="6872180"/>
            <a:ext cx="2485390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spc="185" dirty="0">
                <a:latin typeface="Segoe UI Symbol"/>
                <a:cs typeface="Segoe UI Symbol"/>
              </a:rPr>
              <a:t>📊</a:t>
            </a:r>
            <a:r>
              <a:rPr sz="1600" spc="-135" dirty="0"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FFFFFF"/>
                </a:solidFill>
                <a:latin typeface="Roboto Lt"/>
                <a:cs typeface="Roboto Lt"/>
              </a:rPr>
              <a:t>Namuna</a:t>
            </a:r>
            <a:r>
              <a:rPr sz="1400" spc="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FFFFFF"/>
                </a:solidFill>
                <a:latin typeface="Roboto Lt"/>
                <a:cs typeface="Roboto Lt"/>
              </a:rPr>
              <a:t>AI</a:t>
            </a:r>
            <a:r>
              <a:rPr sz="1400" spc="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FFFFFF"/>
                </a:solidFill>
                <a:latin typeface="Roboto Lt"/>
                <a:cs typeface="Roboto Lt"/>
              </a:rPr>
              <a:t>Report</a:t>
            </a:r>
            <a:r>
              <a:rPr sz="1400" spc="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00" b="1" i="1" spc="-10" dirty="0">
                <a:solidFill>
                  <a:srgbClr val="FFFFFF"/>
                </a:solidFill>
                <a:latin typeface="Roboto Lt"/>
                <a:cs typeface="Roboto Lt"/>
              </a:rPr>
              <a:t>(Misol)</a:t>
            </a:r>
            <a:endParaRPr sz="1400" dirty="0">
              <a:latin typeface="Roboto Lt"/>
              <a:cs typeface="Roboto L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94734" y="7323930"/>
            <a:ext cx="1450340" cy="1859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00" b="1" spc="8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b="1" dirty="0">
                <a:solidFill>
                  <a:srgbClr val="CFD0D8"/>
                </a:solidFill>
                <a:latin typeface="Roboto"/>
                <a:cs typeface="Roboto"/>
              </a:rPr>
              <a:t>Score:</a:t>
            </a:r>
            <a:r>
              <a:rPr sz="1100" b="1" spc="8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b="1" spc="-10" dirty="0">
                <a:solidFill>
                  <a:srgbClr val="CFD0D8"/>
                </a:solidFill>
                <a:latin typeface="Roboto"/>
                <a:cs typeface="Roboto"/>
              </a:rPr>
              <a:t>87/100</a:t>
            </a:r>
            <a:endParaRPr sz="1100" dirty="0">
              <a:latin typeface="Roboto"/>
              <a:cs typeface="Robo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24548" y="7781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24548" y="8077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24548" y="8372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4548" y="8658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5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134645" y="7695405"/>
            <a:ext cx="1600835" cy="9939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Risk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recognition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92%</a:t>
            </a:r>
            <a:endParaRPr sz="1100">
              <a:latin typeface="Roboto"/>
              <a:cs typeface="Roboto"/>
            </a:endParaRPr>
          </a:p>
          <a:p>
            <a:pPr marL="12700" marR="5080">
              <a:lnSpc>
                <a:spcPct val="165800"/>
              </a:lnSpc>
              <a:spcBef>
                <a:spcPts val="35"/>
              </a:spcBef>
            </a:pP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Decision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making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81%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Reaction</a:t>
            </a:r>
            <a:r>
              <a:rPr sz="11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time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88%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protocol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0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CFD0D8"/>
                </a:solidFill>
                <a:latin typeface="Roboto"/>
                <a:cs typeface="Roboto"/>
              </a:rPr>
              <a:t>84%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94734" y="8895526"/>
            <a:ext cx="4485640" cy="470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95"/>
              </a:spcBef>
            </a:pP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"Elektr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xavfini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50" dirty="0">
                <a:solidFill>
                  <a:srgbClr val="CFD0D8"/>
                </a:solidFill>
                <a:latin typeface="Roboto"/>
                <a:cs typeface="Roboto"/>
              </a:rPr>
              <a:t>to'g'ri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 aniqladingiz, </a:t>
            </a: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ammo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30" dirty="0">
                <a:solidFill>
                  <a:srgbClr val="CFD0D8"/>
                </a:solidFill>
                <a:latin typeface="Roboto"/>
                <a:cs typeface="Roboto"/>
              </a:rPr>
              <a:t>hududni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tark</a:t>
            </a:r>
            <a:r>
              <a:rPr sz="1200" i="1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etishdan </a:t>
            </a: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oldin 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energiya</a:t>
            </a:r>
            <a:r>
              <a:rPr sz="1200" i="1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manbasini</a:t>
            </a:r>
            <a:r>
              <a:rPr sz="1200" i="1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izolyatsiya</a:t>
            </a:r>
            <a:r>
              <a:rPr sz="1200" i="1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0" dirty="0">
                <a:solidFill>
                  <a:srgbClr val="CFD0D8"/>
                </a:solidFill>
                <a:latin typeface="Roboto"/>
                <a:cs typeface="Roboto"/>
              </a:rPr>
              <a:t>qilish</a:t>
            </a:r>
            <a:r>
              <a:rPr sz="1200" i="1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5" dirty="0">
                <a:solidFill>
                  <a:srgbClr val="CFD0D8"/>
                </a:solidFill>
                <a:latin typeface="Roboto"/>
                <a:cs typeface="Roboto"/>
              </a:rPr>
              <a:t>bosqichini</a:t>
            </a:r>
            <a:r>
              <a:rPr sz="1200" i="1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bajarmadingiz."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E493C2E-61F1-40FB-8108-80F5759F8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36" y="1346201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-904876"/>
            <a:ext cx="11430000" cy="12315825"/>
          </a:xfrm>
          <a:custGeom>
            <a:avLst/>
            <a:gdLst/>
            <a:ahLst/>
            <a:cxnLst/>
            <a:rect l="l" t="t" r="r" b="b"/>
            <a:pathLst>
              <a:path w="11430000" h="6705600">
                <a:moveTo>
                  <a:pt x="11429999" y="6705599"/>
                </a:moveTo>
                <a:lnTo>
                  <a:pt x="0" y="67055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70559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00074" y="1714499"/>
            <a:ext cx="1009650" cy="228600"/>
          </a:xfrm>
          <a:custGeom>
            <a:avLst/>
            <a:gdLst/>
            <a:ahLst/>
            <a:cxnLst/>
            <a:rect l="l" t="t" r="r" b="b"/>
            <a:pathLst>
              <a:path w="1009650" h="228600">
                <a:moveTo>
                  <a:pt x="973214" y="228599"/>
                </a:moveTo>
                <a:lnTo>
                  <a:pt x="36435" y="228599"/>
                </a:lnTo>
                <a:lnTo>
                  <a:pt x="31076" y="227534"/>
                </a:lnTo>
                <a:lnTo>
                  <a:pt x="1065" y="197523"/>
                </a:lnTo>
                <a:lnTo>
                  <a:pt x="0" y="192164"/>
                </a:lnTo>
                <a:lnTo>
                  <a:pt x="0" y="186594"/>
                </a:lnTo>
                <a:lnTo>
                  <a:pt x="0" y="36434"/>
                </a:lnTo>
                <a:lnTo>
                  <a:pt x="31076" y="1065"/>
                </a:lnTo>
                <a:lnTo>
                  <a:pt x="36435" y="0"/>
                </a:lnTo>
                <a:lnTo>
                  <a:pt x="973214" y="0"/>
                </a:lnTo>
                <a:lnTo>
                  <a:pt x="1008583" y="31076"/>
                </a:lnTo>
                <a:lnTo>
                  <a:pt x="1009649" y="36434"/>
                </a:lnTo>
                <a:lnTo>
                  <a:pt x="1009649" y="192164"/>
                </a:lnTo>
                <a:lnTo>
                  <a:pt x="978572" y="227534"/>
                </a:lnTo>
                <a:lnTo>
                  <a:pt x="973214" y="228599"/>
                </a:lnTo>
                <a:close/>
              </a:path>
            </a:pathLst>
          </a:custGeom>
          <a:solidFill>
            <a:srgbClr val="0E1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267" y="1734184"/>
            <a:ext cx="858519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FD0D8"/>
                </a:solidFill>
                <a:latin typeface="Roboto"/>
                <a:cs typeface="Roboto"/>
              </a:rPr>
              <a:t>BIZNES</a:t>
            </a:r>
            <a:r>
              <a:rPr sz="9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950" spc="-10" dirty="0">
                <a:solidFill>
                  <a:srgbClr val="CFD0D8"/>
                </a:solidFill>
                <a:latin typeface="Roboto"/>
                <a:cs typeface="Roboto"/>
              </a:rPr>
              <a:t>MODEL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1974500"/>
            <a:ext cx="588772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Monetizatsiya</a:t>
            </a:r>
            <a:r>
              <a:rPr spc="-60" dirty="0"/>
              <a:t> </a:t>
            </a:r>
            <a:r>
              <a:rPr spc="-10" dirty="0"/>
              <a:t>modeli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4" y="2646203"/>
            <a:ext cx="9943465" cy="469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lang="en-US" sz="1150" spc="50" dirty="0" err="1">
                <a:solidFill>
                  <a:srgbClr val="CFD0D8"/>
                </a:solidFill>
                <a:latin typeface="Roboto"/>
                <a:cs typeface="Roboto"/>
              </a:rPr>
              <a:t>SafetyLab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B2B</a:t>
            </a:r>
            <a:r>
              <a:rPr sz="1150" b="1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150" b="1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Enterprise</a:t>
            </a:r>
            <a:r>
              <a:rPr sz="1150" b="1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modeli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asosida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ishlaydi.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Mijozlar: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sanoat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korxonalari,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FD0D8"/>
                </a:solidFill>
                <a:latin typeface="Roboto"/>
                <a:cs typeface="Roboto"/>
              </a:rPr>
              <a:t>kon-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metallurgiya,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kimyo,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energetika,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ishlab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chiqarish,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texnikum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va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universitetlar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hamda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korporativ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markazlari.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0074" y="3343274"/>
            <a:ext cx="3314700" cy="2076450"/>
            <a:chOff x="600074" y="2047874"/>
            <a:chExt cx="3314700" cy="2076450"/>
          </a:xfrm>
        </p:grpSpPr>
        <p:sp>
          <p:nvSpPr>
            <p:cNvPr id="8" name="object 8"/>
            <p:cNvSpPr/>
            <p:nvPr/>
          </p:nvSpPr>
          <p:spPr>
            <a:xfrm>
              <a:off x="609599" y="2057399"/>
              <a:ext cx="3295650" cy="2057400"/>
            </a:xfrm>
            <a:custGeom>
              <a:avLst/>
              <a:gdLst/>
              <a:ahLst/>
              <a:cxnLst/>
              <a:rect l="l" t="t" r="r" b="b"/>
              <a:pathLst>
                <a:path w="3295650" h="2057400">
                  <a:moveTo>
                    <a:pt x="3258367" y="2057399"/>
                  </a:moveTo>
                  <a:lnTo>
                    <a:pt x="37281" y="2057399"/>
                  </a:lnTo>
                  <a:lnTo>
                    <a:pt x="31799" y="2056308"/>
                  </a:lnTo>
                  <a:lnTo>
                    <a:pt x="1090" y="2025600"/>
                  </a:lnTo>
                  <a:lnTo>
                    <a:pt x="0" y="2020117"/>
                  </a:lnTo>
                  <a:lnTo>
                    <a:pt x="0" y="2014418"/>
                  </a:lnTo>
                  <a:lnTo>
                    <a:pt x="0" y="37281"/>
                  </a:lnTo>
                  <a:lnTo>
                    <a:pt x="21267" y="5452"/>
                  </a:lnTo>
                  <a:lnTo>
                    <a:pt x="37281" y="0"/>
                  </a:lnTo>
                  <a:lnTo>
                    <a:pt x="3258367" y="0"/>
                  </a:lnTo>
                  <a:lnTo>
                    <a:pt x="3290196" y="21267"/>
                  </a:lnTo>
                  <a:lnTo>
                    <a:pt x="3295649" y="37281"/>
                  </a:lnTo>
                  <a:lnTo>
                    <a:pt x="3295649" y="2020117"/>
                  </a:lnTo>
                  <a:lnTo>
                    <a:pt x="3274381" y="2051946"/>
                  </a:lnTo>
                  <a:lnTo>
                    <a:pt x="3263850" y="2056308"/>
                  </a:lnTo>
                  <a:lnTo>
                    <a:pt x="3258367" y="205739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599" y="2057399"/>
              <a:ext cx="3295650" cy="2057400"/>
            </a:xfrm>
            <a:custGeom>
              <a:avLst/>
              <a:gdLst/>
              <a:ahLst/>
              <a:cxnLst/>
              <a:rect l="l" t="t" r="r" b="b"/>
              <a:pathLst>
                <a:path w="3295650" h="2057400">
                  <a:moveTo>
                    <a:pt x="0" y="2014418"/>
                  </a:moveTo>
                  <a:lnTo>
                    <a:pt x="0" y="42981"/>
                  </a:lnTo>
                  <a:lnTo>
                    <a:pt x="0" y="37281"/>
                  </a:lnTo>
                  <a:lnTo>
                    <a:pt x="1090" y="31798"/>
                  </a:lnTo>
                  <a:lnTo>
                    <a:pt x="3271" y="26532"/>
                  </a:lnTo>
                  <a:lnTo>
                    <a:pt x="5452" y="21267"/>
                  </a:lnTo>
                  <a:lnTo>
                    <a:pt x="8558" y="16619"/>
                  </a:lnTo>
                  <a:lnTo>
                    <a:pt x="12589" y="12588"/>
                  </a:lnTo>
                  <a:lnTo>
                    <a:pt x="16619" y="8558"/>
                  </a:lnTo>
                  <a:lnTo>
                    <a:pt x="21267" y="5452"/>
                  </a:lnTo>
                  <a:lnTo>
                    <a:pt x="26533" y="3271"/>
                  </a:lnTo>
                  <a:lnTo>
                    <a:pt x="31799" y="1090"/>
                  </a:lnTo>
                  <a:lnTo>
                    <a:pt x="37281" y="0"/>
                  </a:lnTo>
                  <a:lnTo>
                    <a:pt x="42981" y="0"/>
                  </a:lnTo>
                  <a:lnTo>
                    <a:pt x="3252668" y="0"/>
                  </a:lnTo>
                  <a:lnTo>
                    <a:pt x="3258367" y="0"/>
                  </a:lnTo>
                  <a:lnTo>
                    <a:pt x="3263849" y="1090"/>
                  </a:lnTo>
                  <a:lnTo>
                    <a:pt x="3269115" y="3271"/>
                  </a:lnTo>
                  <a:lnTo>
                    <a:pt x="3274381" y="5452"/>
                  </a:lnTo>
                  <a:lnTo>
                    <a:pt x="3279030" y="8558"/>
                  </a:lnTo>
                  <a:lnTo>
                    <a:pt x="3283060" y="12588"/>
                  </a:lnTo>
                  <a:lnTo>
                    <a:pt x="3287090" y="16619"/>
                  </a:lnTo>
                  <a:lnTo>
                    <a:pt x="3290196" y="21267"/>
                  </a:lnTo>
                  <a:lnTo>
                    <a:pt x="3292377" y="26532"/>
                  </a:lnTo>
                  <a:lnTo>
                    <a:pt x="3294559" y="31798"/>
                  </a:lnTo>
                  <a:lnTo>
                    <a:pt x="3295649" y="37281"/>
                  </a:lnTo>
                  <a:lnTo>
                    <a:pt x="3295649" y="42981"/>
                  </a:lnTo>
                  <a:lnTo>
                    <a:pt x="3295649" y="2014418"/>
                  </a:lnTo>
                  <a:lnTo>
                    <a:pt x="3295649" y="2020117"/>
                  </a:lnTo>
                  <a:lnTo>
                    <a:pt x="3294559" y="2025600"/>
                  </a:lnTo>
                  <a:lnTo>
                    <a:pt x="3292377" y="2030866"/>
                  </a:lnTo>
                  <a:lnTo>
                    <a:pt x="3290196" y="2036131"/>
                  </a:lnTo>
                  <a:lnTo>
                    <a:pt x="3258367" y="2057399"/>
                  </a:lnTo>
                  <a:lnTo>
                    <a:pt x="3252668" y="2057399"/>
                  </a:lnTo>
                  <a:lnTo>
                    <a:pt x="42981" y="2057399"/>
                  </a:lnTo>
                  <a:lnTo>
                    <a:pt x="8558" y="2040780"/>
                  </a:lnTo>
                  <a:lnTo>
                    <a:pt x="3271" y="2030866"/>
                  </a:lnTo>
                  <a:lnTo>
                    <a:pt x="1090" y="2025600"/>
                  </a:lnTo>
                  <a:lnTo>
                    <a:pt x="0" y="2020117"/>
                  </a:lnTo>
                  <a:lnTo>
                    <a:pt x="0" y="2014418"/>
                  </a:lnTo>
                  <a:close/>
                </a:path>
              </a:pathLst>
            </a:custGeom>
            <a:ln w="19049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2066924"/>
              <a:ext cx="3276600" cy="443230"/>
            </a:xfrm>
            <a:custGeom>
              <a:avLst/>
              <a:gdLst/>
              <a:ahLst/>
              <a:cxnLst/>
              <a:rect l="l" t="t" r="r" b="b"/>
              <a:pathLst>
                <a:path w="3276600" h="443230">
                  <a:moveTo>
                    <a:pt x="3276599" y="442912"/>
                  </a:moveTo>
                  <a:lnTo>
                    <a:pt x="0" y="442912"/>
                  </a:lnTo>
                  <a:lnTo>
                    <a:pt x="0" y="29019"/>
                  </a:lnTo>
                  <a:lnTo>
                    <a:pt x="29019" y="0"/>
                  </a:lnTo>
                  <a:lnTo>
                    <a:pt x="3247579" y="0"/>
                  </a:lnTo>
                  <a:lnTo>
                    <a:pt x="3276599" y="29019"/>
                  </a:lnTo>
                  <a:lnTo>
                    <a:pt x="3276599" y="44291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4" y="2505074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32765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76599" y="0"/>
                  </a:lnTo>
                  <a:lnTo>
                    <a:pt x="3276599" y="952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7808" y="2183984"/>
              <a:ext cx="230343" cy="20045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56443" y="3933698"/>
            <a:ext cx="2859405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Enterprise</a:t>
            </a:r>
            <a:r>
              <a:rPr sz="1450" spc="3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License</a:t>
            </a:r>
            <a:endParaRPr sz="145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uchun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yillik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platforma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litsenziyasi.</a:t>
            </a:r>
            <a:endParaRPr sz="1150" dirty="0">
              <a:latin typeface="Roboto"/>
              <a:cs typeface="Roboto"/>
            </a:endParaRPr>
          </a:p>
          <a:p>
            <a:pPr marL="12700" marR="140970">
              <a:lnSpc>
                <a:spcPts val="1950"/>
              </a:lnSpc>
              <a:spcBef>
                <a:spcPts val="8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Cheksiz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foydalanuvchilar,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barcha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mavjud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senariylar</a:t>
            </a:r>
            <a:r>
              <a:rPr sz="115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 to'liq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analytics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 dashboard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kiradi.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57649" y="3343274"/>
            <a:ext cx="3314700" cy="2076450"/>
            <a:chOff x="4057649" y="2047874"/>
            <a:chExt cx="3314700" cy="2076450"/>
          </a:xfrm>
        </p:grpSpPr>
        <p:sp>
          <p:nvSpPr>
            <p:cNvPr id="15" name="object 15"/>
            <p:cNvSpPr/>
            <p:nvPr/>
          </p:nvSpPr>
          <p:spPr>
            <a:xfrm>
              <a:off x="4067174" y="2057399"/>
              <a:ext cx="3295650" cy="2057400"/>
            </a:xfrm>
            <a:custGeom>
              <a:avLst/>
              <a:gdLst/>
              <a:ahLst/>
              <a:cxnLst/>
              <a:rect l="l" t="t" r="r" b="b"/>
              <a:pathLst>
                <a:path w="3295650" h="2057400">
                  <a:moveTo>
                    <a:pt x="3258367" y="2057399"/>
                  </a:moveTo>
                  <a:lnTo>
                    <a:pt x="37281" y="2057399"/>
                  </a:lnTo>
                  <a:lnTo>
                    <a:pt x="31799" y="2056308"/>
                  </a:lnTo>
                  <a:lnTo>
                    <a:pt x="1090" y="2025600"/>
                  </a:lnTo>
                  <a:lnTo>
                    <a:pt x="0" y="2020117"/>
                  </a:lnTo>
                  <a:lnTo>
                    <a:pt x="0" y="2014418"/>
                  </a:lnTo>
                  <a:lnTo>
                    <a:pt x="0" y="37281"/>
                  </a:lnTo>
                  <a:lnTo>
                    <a:pt x="21267" y="5452"/>
                  </a:lnTo>
                  <a:lnTo>
                    <a:pt x="37281" y="0"/>
                  </a:lnTo>
                  <a:lnTo>
                    <a:pt x="3258367" y="0"/>
                  </a:lnTo>
                  <a:lnTo>
                    <a:pt x="3290196" y="21267"/>
                  </a:lnTo>
                  <a:lnTo>
                    <a:pt x="3295649" y="37281"/>
                  </a:lnTo>
                  <a:lnTo>
                    <a:pt x="3295649" y="2020117"/>
                  </a:lnTo>
                  <a:lnTo>
                    <a:pt x="3274381" y="2051946"/>
                  </a:lnTo>
                  <a:lnTo>
                    <a:pt x="3263850" y="2056308"/>
                  </a:lnTo>
                  <a:lnTo>
                    <a:pt x="3258367" y="205739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67174" y="2057399"/>
              <a:ext cx="3295650" cy="2057400"/>
            </a:xfrm>
            <a:custGeom>
              <a:avLst/>
              <a:gdLst/>
              <a:ahLst/>
              <a:cxnLst/>
              <a:rect l="l" t="t" r="r" b="b"/>
              <a:pathLst>
                <a:path w="3295650" h="2057400">
                  <a:moveTo>
                    <a:pt x="0" y="2014418"/>
                  </a:moveTo>
                  <a:lnTo>
                    <a:pt x="0" y="42981"/>
                  </a:lnTo>
                  <a:lnTo>
                    <a:pt x="0" y="37281"/>
                  </a:lnTo>
                  <a:lnTo>
                    <a:pt x="1090" y="31798"/>
                  </a:lnTo>
                  <a:lnTo>
                    <a:pt x="3271" y="26532"/>
                  </a:lnTo>
                  <a:lnTo>
                    <a:pt x="5452" y="21267"/>
                  </a:lnTo>
                  <a:lnTo>
                    <a:pt x="8558" y="16619"/>
                  </a:lnTo>
                  <a:lnTo>
                    <a:pt x="12588" y="12588"/>
                  </a:lnTo>
                  <a:lnTo>
                    <a:pt x="16619" y="8558"/>
                  </a:lnTo>
                  <a:lnTo>
                    <a:pt x="21267" y="5452"/>
                  </a:lnTo>
                  <a:lnTo>
                    <a:pt x="26533" y="3271"/>
                  </a:lnTo>
                  <a:lnTo>
                    <a:pt x="31799" y="1090"/>
                  </a:lnTo>
                  <a:lnTo>
                    <a:pt x="37281" y="0"/>
                  </a:lnTo>
                  <a:lnTo>
                    <a:pt x="42981" y="0"/>
                  </a:lnTo>
                  <a:lnTo>
                    <a:pt x="3252668" y="0"/>
                  </a:lnTo>
                  <a:lnTo>
                    <a:pt x="3258367" y="0"/>
                  </a:lnTo>
                  <a:lnTo>
                    <a:pt x="3263850" y="1090"/>
                  </a:lnTo>
                  <a:lnTo>
                    <a:pt x="3269115" y="3271"/>
                  </a:lnTo>
                  <a:lnTo>
                    <a:pt x="3274381" y="5452"/>
                  </a:lnTo>
                  <a:lnTo>
                    <a:pt x="3279030" y="8558"/>
                  </a:lnTo>
                  <a:lnTo>
                    <a:pt x="3283060" y="12588"/>
                  </a:lnTo>
                  <a:lnTo>
                    <a:pt x="3287090" y="16619"/>
                  </a:lnTo>
                  <a:lnTo>
                    <a:pt x="3290196" y="21267"/>
                  </a:lnTo>
                  <a:lnTo>
                    <a:pt x="3292377" y="26532"/>
                  </a:lnTo>
                  <a:lnTo>
                    <a:pt x="3294558" y="31798"/>
                  </a:lnTo>
                  <a:lnTo>
                    <a:pt x="3295649" y="37281"/>
                  </a:lnTo>
                  <a:lnTo>
                    <a:pt x="3295650" y="42981"/>
                  </a:lnTo>
                  <a:lnTo>
                    <a:pt x="3295650" y="2014418"/>
                  </a:lnTo>
                  <a:lnTo>
                    <a:pt x="3295649" y="2020117"/>
                  </a:lnTo>
                  <a:lnTo>
                    <a:pt x="3294558" y="2025600"/>
                  </a:lnTo>
                  <a:lnTo>
                    <a:pt x="3292377" y="2030866"/>
                  </a:lnTo>
                  <a:lnTo>
                    <a:pt x="3290196" y="2036131"/>
                  </a:lnTo>
                  <a:lnTo>
                    <a:pt x="3258367" y="2057399"/>
                  </a:lnTo>
                  <a:lnTo>
                    <a:pt x="3252668" y="2057399"/>
                  </a:lnTo>
                  <a:lnTo>
                    <a:pt x="42981" y="2057399"/>
                  </a:lnTo>
                  <a:lnTo>
                    <a:pt x="8558" y="2040780"/>
                  </a:lnTo>
                  <a:lnTo>
                    <a:pt x="0" y="2020117"/>
                  </a:lnTo>
                  <a:lnTo>
                    <a:pt x="0" y="2014418"/>
                  </a:lnTo>
                  <a:close/>
                </a:path>
              </a:pathLst>
            </a:custGeom>
            <a:ln w="19049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699" y="2066924"/>
              <a:ext cx="3276600" cy="443230"/>
            </a:xfrm>
            <a:custGeom>
              <a:avLst/>
              <a:gdLst/>
              <a:ahLst/>
              <a:cxnLst/>
              <a:rect l="l" t="t" r="r" b="b"/>
              <a:pathLst>
                <a:path w="3276600" h="443230">
                  <a:moveTo>
                    <a:pt x="3276600" y="442912"/>
                  </a:moveTo>
                  <a:lnTo>
                    <a:pt x="0" y="442912"/>
                  </a:lnTo>
                  <a:lnTo>
                    <a:pt x="0" y="29019"/>
                  </a:lnTo>
                  <a:lnTo>
                    <a:pt x="29020" y="0"/>
                  </a:lnTo>
                  <a:lnTo>
                    <a:pt x="3247579" y="0"/>
                  </a:lnTo>
                  <a:lnTo>
                    <a:pt x="3276600" y="29019"/>
                  </a:lnTo>
                  <a:lnTo>
                    <a:pt x="3276600" y="44291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699" y="2505074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32765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76599" y="0"/>
                  </a:lnTo>
                  <a:lnTo>
                    <a:pt x="3276599" y="952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4491" y="2166716"/>
              <a:ext cx="197443" cy="2349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216400" y="3933698"/>
            <a:ext cx="280733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Per</a:t>
            </a:r>
            <a:r>
              <a:rPr sz="1450" spc="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Employee</a:t>
            </a:r>
            <a:endParaRPr sz="1450" dirty="0">
              <a:latin typeface="Roboto Lt"/>
              <a:cs typeface="Roboto Lt"/>
            </a:endParaRPr>
          </a:p>
          <a:p>
            <a:pPr marL="12700" marR="5080">
              <a:lnSpc>
                <a:spcPct val="138600"/>
              </a:lnSpc>
              <a:spcBef>
                <a:spcPts val="57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Faol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xodimlar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soniga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qarab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oylik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yoki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yillik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to'lov.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Kichik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o'rta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korxonalar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uchun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moslashuvchan</a:t>
            </a:r>
            <a:r>
              <a:rPr sz="1150" spc="7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variant.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24749" y="3343274"/>
            <a:ext cx="3305175" cy="2076450"/>
            <a:chOff x="7524749" y="2047874"/>
            <a:chExt cx="3305175" cy="2076450"/>
          </a:xfrm>
        </p:grpSpPr>
        <p:sp>
          <p:nvSpPr>
            <p:cNvPr id="22" name="object 22"/>
            <p:cNvSpPr/>
            <p:nvPr/>
          </p:nvSpPr>
          <p:spPr>
            <a:xfrm>
              <a:off x="7534274" y="2057399"/>
              <a:ext cx="3286125" cy="2057400"/>
            </a:xfrm>
            <a:custGeom>
              <a:avLst/>
              <a:gdLst/>
              <a:ahLst/>
              <a:cxnLst/>
              <a:rect l="l" t="t" r="r" b="b"/>
              <a:pathLst>
                <a:path w="3286125" h="2057400">
                  <a:moveTo>
                    <a:pt x="3248842" y="2057399"/>
                  </a:moveTo>
                  <a:lnTo>
                    <a:pt x="37281" y="2057399"/>
                  </a:lnTo>
                  <a:lnTo>
                    <a:pt x="31798" y="2056308"/>
                  </a:lnTo>
                  <a:lnTo>
                    <a:pt x="1090" y="2025600"/>
                  </a:lnTo>
                  <a:lnTo>
                    <a:pt x="0" y="2020117"/>
                  </a:lnTo>
                  <a:lnTo>
                    <a:pt x="0" y="2014418"/>
                  </a:lnTo>
                  <a:lnTo>
                    <a:pt x="0" y="37281"/>
                  </a:lnTo>
                  <a:lnTo>
                    <a:pt x="21266" y="5452"/>
                  </a:lnTo>
                  <a:lnTo>
                    <a:pt x="37281" y="0"/>
                  </a:lnTo>
                  <a:lnTo>
                    <a:pt x="3248842" y="0"/>
                  </a:lnTo>
                  <a:lnTo>
                    <a:pt x="3280670" y="21267"/>
                  </a:lnTo>
                  <a:lnTo>
                    <a:pt x="3286123" y="37281"/>
                  </a:lnTo>
                  <a:lnTo>
                    <a:pt x="3286123" y="2020117"/>
                  </a:lnTo>
                  <a:lnTo>
                    <a:pt x="3264856" y="2051946"/>
                  </a:lnTo>
                  <a:lnTo>
                    <a:pt x="3254324" y="2056308"/>
                  </a:lnTo>
                  <a:lnTo>
                    <a:pt x="3248842" y="205739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34274" y="2057399"/>
              <a:ext cx="3286125" cy="2057400"/>
            </a:xfrm>
            <a:custGeom>
              <a:avLst/>
              <a:gdLst/>
              <a:ahLst/>
              <a:cxnLst/>
              <a:rect l="l" t="t" r="r" b="b"/>
              <a:pathLst>
                <a:path w="3286125" h="2057400">
                  <a:moveTo>
                    <a:pt x="0" y="2014418"/>
                  </a:moveTo>
                  <a:lnTo>
                    <a:pt x="0" y="42981"/>
                  </a:lnTo>
                  <a:lnTo>
                    <a:pt x="0" y="37281"/>
                  </a:lnTo>
                  <a:lnTo>
                    <a:pt x="1090" y="31798"/>
                  </a:lnTo>
                  <a:lnTo>
                    <a:pt x="3271" y="26532"/>
                  </a:lnTo>
                  <a:lnTo>
                    <a:pt x="5452" y="21267"/>
                  </a:lnTo>
                  <a:lnTo>
                    <a:pt x="8558" y="16619"/>
                  </a:lnTo>
                  <a:lnTo>
                    <a:pt x="12588" y="12588"/>
                  </a:lnTo>
                  <a:lnTo>
                    <a:pt x="16618" y="8558"/>
                  </a:lnTo>
                  <a:lnTo>
                    <a:pt x="21266" y="5452"/>
                  </a:lnTo>
                  <a:lnTo>
                    <a:pt x="26532" y="3271"/>
                  </a:lnTo>
                  <a:lnTo>
                    <a:pt x="31798" y="1090"/>
                  </a:lnTo>
                  <a:lnTo>
                    <a:pt x="37281" y="0"/>
                  </a:lnTo>
                  <a:lnTo>
                    <a:pt x="42981" y="0"/>
                  </a:lnTo>
                  <a:lnTo>
                    <a:pt x="3243143" y="0"/>
                  </a:lnTo>
                  <a:lnTo>
                    <a:pt x="3248842" y="0"/>
                  </a:lnTo>
                  <a:lnTo>
                    <a:pt x="3254324" y="1090"/>
                  </a:lnTo>
                  <a:lnTo>
                    <a:pt x="3259590" y="3271"/>
                  </a:lnTo>
                  <a:lnTo>
                    <a:pt x="3264856" y="5452"/>
                  </a:lnTo>
                  <a:lnTo>
                    <a:pt x="3282851" y="26532"/>
                  </a:lnTo>
                  <a:lnTo>
                    <a:pt x="3285032" y="31798"/>
                  </a:lnTo>
                  <a:lnTo>
                    <a:pt x="3286123" y="37281"/>
                  </a:lnTo>
                  <a:lnTo>
                    <a:pt x="3286124" y="42981"/>
                  </a:lnTo>
                  <a:lnTo>
                    <a:pt x="3286124" y="2014418"/>
                  </a:lnTo>
                  <a:lnTo>
                    <a:pt x="3286123" y="2020117"/>
                  </a:lnTo>
                  <a:lnTo>
                    <a:pt x="3285032" y="2025600"/>
                  </a:lnTo>
                  <a:lnTo>
                    <a:pt x="3282851" y="2030866"/>
                  </a:lnTo>
                  <a:lnTo>
                    <a:pt x="3280670" y="2036131"/>
                  </a:lnTo>
                  <a:lnTo>
                    <a:pt x="3248842" y="2057399"/>
                  </a:lnTo>
                  <a:lnTo>
                    <a:pt x="3243143" y="2057399"/>
                  </a:lnTo>
                  <a:lnTo>
                    <a:pt x="42981" y="2057399"/>
                  </a:lnTo>
                  <a:lnTo>
                    <a:pt x="12588" y="2044810"/>
                  </a:lnTo>
                  <a:lnTo>
                    <a:pt x="8558" y="2040780"/>
                  </a:lnTo>
                  <a:lnTo>
                    <a:pt x="5452" y="2036131"/>
                  </a:lnTo>
                  <a:lnTo>
                    <a:pt x="3271" y="2030866"/>
                  </a:lnTo>
                  <a:lnTo>
                    <a:pt x="1090" y="2025600"/>
                  </a:lnTo>
                  <a:lnTo>
                    <a:pt x="0" y="2020117"/>
                  </a:lnTo>
                  <a:lnTo>
                    <a:pt x="0" y="2014418"/>
                  </a:lnTo>
                  <a:close/>
                </a:path>
              </a:pathLst>
            </a:custGeom>
            <a:ln w="19049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43798" y="2066924"/>
              <a:ext cx="3267075" cy="443230"/>
            </a:xfrm>
            <a:custGeom>
              <a:avLst/>
              <a:gdLst/>
              <a:ahLst/>
              <a:cxnLst/>
              <a:rect l="l" t="t" r="r" b="b"/>
              <a:pathLst>
                <a:path w="3267075" h="443230">
                  <a:moveTo>
                    <a:pt x="3267075" y="442912"/>
                  </a:moveTo>
                  <a:lnTo>
                    <a:pt x="0" y="442912"/>
                  </a:lnTo>
                  <a:lnTo>
                    <a:pt x="0" y="29019"/>
                  </a:lnTo>
                  <a:lnTo>
                    <a:pt x="29019" y="0"/>
                  </a:lnTo>
                  <a:lnTo>
                    <a:pt x="3238055" y="0"/>
                  </a:lnTo>
                  <a:lnTo>
                    <a:pt x="3267074" y="29019"/>
                  </a:lnTo>
                  <a:lnTo>
                    <a:pt x="3267075" y="44291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43799" y="2505074"/>
              <a:ext cx="3267075" cy="9525"/>
            </a:xfrm>
            <a:custGeom>
              <a:avLst/>
              <a:gdLst/>
              <a:ahLst/>
              <a:cxnLst/>
              <a:rect l="l" t="t" r="r" b="b"/>
              <a:pathLst>
                <a:path w="3267075" h="9525">
                  <a:moveTo>
                    <a:pt x="32670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67074" y="0"/>
                  </a:lnTo>
                  <a:lnTo>
                    <a:pt x="3267074" y="952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61705" y="2171699"/>
              <a:ext cx="218167" cy="22988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676356" y="3933698"/>
            <a:ext cx="254698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Custom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Training</a:t>
            </a:r>
            <a:endParaRPr sz="1450">
              <a:latin typeface="Roboto Lt"/>
              <a:cs typeface="Roboto Lt"/>
            </a:endParaRPr>
          </a:p>
          <a:p>
            <a:pPr marL="12700" marR="5080">
              <a:lnSpc>
                <a:spcPct val="138600"/>
              </a:lnSpc>
              <a:spcBef>
                <a:spcPts val="57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Korxonaning</a:t>
            </a:r>
            <a:r>
              <a:rPr sz="11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o'z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 uskunasi,</a:t>
            </a:r>
            <a:r>
              <a:rPr sz="11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ish joyi</a:t>
            </a:r>
            <a:r>
              <a:rPr sz="11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va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xavfsizlik</a:t>
            </a:r>
            <a:r>
              <a:rPr sz="1150" spc="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protokollariga</a:t>
            </a:r>
            <a:r>
              <a:rPr sz="1150" spc="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mos</a:t>
            </a:r>
            <a:r>
              <a:rPr sz="1150" spc="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maxsus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scenario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yaratish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uchun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alohida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FD0D8"/>
                </a:solidFill>
                <a:latin typeface="Roboto"/>
                <a:cs typeface="Roboto"/>
              </a:rPr>
              <a:t>to'lov.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5299" y="5581649"/>
            <a:ext cx="5143500" cy="2000250"/>
          </a:xfrm>
          <a:custGeom>
            <a:avLst/>
            <a:gdLst/>
            <a:ahLst/>
            <a:cxnLst/>
            <a:rect l="l" t="t" r="r" b="b"/>
            <a:pathLst>
              <a:path w="5143500" h="2000250">
                <a:moveTo>
                  <a:pt x="5059398" y="2000249"/>
                </a:moveTo>
                <a:lnTo>
                  <a:pt x="84101" y="2000249"/>
                </a:lnTo>
                <a:lnTo>
                  <a:pt x="78247" y="1999672"/>
                </a:lnTo>
                <a:lnTo>
                  <a:pt x="35089" y="1981795"/>
                </a:lnTo>
                <a:lnTo>
                  <a:pt x="9113" y="1950143"/>
                </a:lnTo>
                <a:lnTo>
                  <a:pt x="0" y="1916148"/>
                </a:lnTo>
                <a:lnTo>
                  <a:pt x="0" y="1910238"/>
                </a:lnTo>
                <a:lnTo>
                  <a:pt x="0" y="84100"/>
                </a:lnTo>
                <a:lnTo>
                  <a:pt x="11886" y="44917"/>
                </a:lnTo>
                <a:lnTo>
                  <a:pt x="44917" y="11885"/>
                </a:lnTo>
                <a:lnTo>
                  <a:pt x="84101" y="0"/>
                </a:lnTo>
                <a:lnTo>
                  <a:pt x="5059398" y="0"/>
                </a:lnTo>
                <a:lnTo>
                  <a:pt x="5098581" y="11885"/>
                </a:lnTo>
                <a:lnTo>
                  <a:pt x="5131612" y="44917"/>
                </a:lnTo>
                <a:lnTo>
                  <a:pt x="5143499" y="84100"/>
                </a:lnTo>
                <a:lnTo>
                  <a:pt x="5143499" y="1916148"/>
                </a:lnTo>
                <a:lnTo>
                  <a:pt x="5131612" y="1955331"/>
                </a:lnTo>
                <a:lnTo>
                  <a:pt x="5098580" y="1988362"/>
                </a:lnTo>
                <a:lnTo>
                  <a:pt x="5065251" y="1999672"/>
                </a:lnTo>
                <a:lnTo>
                  <a:pt x="5059398" y="2000249"/>
                </a:lnTo>
                <a:close/>
              </a:path>
            </a:pathLst>
          </a:custGeom>
          <a:solidFill>
            <a:srgbClr val="596ED8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9493" y="5705347"/>
            <a:ext cx="174815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FFFFFF"/>
                </a:solidFill>
                <a:latin typeface="Roboto Lt"/>
                <a:cs typeface="Roboto Lt"/>
              </a:rPr>
              <a:t>Nima</a:t>
            </a:r>
            <a:r>
              <a:rPr sz="1450" spc="-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FFFFFF"/>
                </a:solidFill>
                <a:latin typeface="Roboto Lt"/>
                <a:cs typeface="Roboto Lt"/>
              </a:rPr>
              <a:t>uchun </a:t>
            </a:r>
            <a:r>
              <a:rPr sz="1450" spc="-10" dirty="0">
                <a:solidFill>
                  <a:srgbClr val="FFFFFF"/>
                </a:solidFill>
                <a:latin typeface="Roboto Lt"/>
                <a:cs typeface="Roboto Lt"/>
              </a:rPr>
              <a:t>to'laydi?</a:t>
            </a:r>
            <a:endParaRPr sz="1450" dirty="0">
              <a:latin typeface="Roboto Lt"/>
              <a:cs typeface="Roboto 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7212" y="6219825"/>
            <a:ext cx="47625" cy="1209675"/>
          </a:xfrm>
          <a:custGeom>
            <a:avLst/>
            <a:gdLst/>
            <a:ahLst/>
            <a:cxnLst/>
            <a:rect l="l" t="t" r="r" b="b"/>
            <a:pathLst>
              <a:path w="47625" h="1209675">
                <a:moveTo>
                  <a:pt x="47625" y="1182712"/>
                </a:moveTo>
                <a:lnTo>
                  <a:pt x="26974" y="1162050"/>
                </a:lnTo>
                <a:lnTo>
                  <a:pt x="20662" y="1162050"/>
                </a:lnTo>
                <a:lnTo>
                  <a:pt x="0" y="1182712"/>
                </a:lnTo>
                <a:lnTo>
                  <a:pt x="0" y="1189024"/>
                </a:lnTo>
                <a:lnTo>
                  <a:pt x="20662" y="1209675"/>
                </a:lnTo>
                <a:lnTo>
                  <a:pt x="26974" y="1209675"/>
                </a:lnTo>
                <a:lnTo>
                  <a:pt x="47625" y="1189024"/>
                </a:lnTo>
                <a:lnTo>
                  <a:pt x="47625" y="1185862"/>
                </a:lnTo>
                <a:lnTo>
                  <a:pt x="47625" y="1182712"/>
                </a:lnTo>
                <a:close/>
              </a:path>
              <a:path w="47625" h="1209675">
                <a:moveTo>
                  <a:pt x="47625" y="896962"/>
                </a:moveTo>
                <a:lnTo>
                  <a:pt x="26974" y="876300"/>
                </a:lnTo>
                <a:lnTo>
                  <a:pt x="20662" y="876300"/>
                </a:lnTo>
                <a:lnTo>
                  <a:pt x="0" y="896962"/>
                </a:lnTo>
                <a:lnTo>
                  <a:pt x="0" y="903274"/>
                </a:lnTo>
                <a:lnTo>
                  <a:pt x="20662" y="923925"/>
                </a:lnTo>
                <a:lnTo>
                  <a:pt x="26974" y="923925"/>
                </a:lnTo>
                <a:lnTo>
                  <a:pt x="47625" y="903274"/>
                </a:lnTo>
                <a:lnTo>
                  <a:pt x="47625" y="900112"/>
                </a:lnTo>
                <a:lnTo>
                  <a:pt x="47625" y="896962"/>
                </a:lnTo>
                <a:close/>
              </a:path>
              <a:path w="47625" h="1209675">
                <a:moveTo>
                  <a:pt x="47625" y="601687"/>
                </a:moveTo>
                <a:lnTo>
                  <a:pt x="26974" y="581025"/>
                </a:lnTo>
                <a:lnTo>
                  <a:pt x="20662" y="581025"/>
                </a:lnTo>
                <a:lnTo>
                  <a:pt x="0" y="601687"/>
                </a:lnTo>
                <a:lnTo>
                  <a:pt x="0" y="607999"/>
                </a:lnTo>
                <a:lnTo>
                  <a:pt x="20662" y="628650"/>
                </a:lnTo>
                <a:lnTo>
                  <a:pt x="26974" y="628650"/>
                </a:lnTo>
                <a:lnTo>
                  <a:pt x="47625" y="607999"/>
                </a:lnTo>
                <a:lnTo>
                  <a:pt x="47625" y="604837"/>
                </a:lnTo>
                <a:lnTo>
                  <a:pt x="47625" y="601687"/>
                </a:lnTo>
                <a:close/>
              </a:path>
              <a:path w="47625" h="1209675">
                <a:moveTo>
                  <a:pt x="47625" y="306412"/>
                </a:moveTo>
                <a:lnTo>
                  <a:pt x="26974" y="285750"/>
                </a:lnTo>
                <a:lnTo>
                  <a:pt x="20662" y="285750"/>
                </a:lnTo>
                <a:lnTo>
                  <a:pt x="0" y="306412"/>
                </a:lnTo>
                <a:lnTo>
                  <a:pt x="0" y="312724"/>
                </a:lnTo>
                <a:lnTo>
                  <a:pt x="20662" y="333375"/>
                </a:lnTo>
                <a:lnTo>
                  <a:pt x="26974" y="333375"/>
                </a:lnTo>
                <a:lnTo>
                  <a:pt x="47625" y="312724"/>
                </a:lnTo>
                <a:lnTo>
                  <a:pt x="47625" y="309562"/>
                </a:lnTo>
                <a:lnTo>
                  <a:pt x="47625" y="306412"/>
                </a:lnTo>
                <a:close/>
              </a:path>
              <a:path w="47625" h="120967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69404" y="6027578"/>
            <a:ext cx="3270250" cy="147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7190">
              <a:lnSpc>
                <a:spcPct val="163000"/>
              </a:lnSpc>
              <a:spcBef>
                <a:spcPts val="95"/>
              </a:spcBef>
            </a:pPr>
            <a:r>
              <a:rPr sz="1150" dirty="0">
                <a:latin typeface="Roboto"/>
                <a:cs typeface="Roboto"/>
              </a:rPr>
              <a:t>Xavfli</a:t>
            </a:r>
            <a:r>
              <a:rPr sz="1150" spc="4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treninglarni</a:t>
            </a:r>
            <a:r>
              <a:rPr sz="1150" spc="4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xavfsiz</a:t>
            </a:r>
            <a:r>
              <a:rPr sz="1150" spc="4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muhitda</a:t>
            </a:r>
            <a:r>
              <a:rPr sz="1150" spc="45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o'tkazish </a:t>
            </a:r>
            <a:r>
              <a:rPr sz="1150" dirty="0">
                <a:latin typeface="Roboto"/>
                <a:cs typeface="Roboto"/>
              </a:rPr>
              <a:t>Trening</a:t>
            </a:r>
            <a:r>
              <a:rPr sz="1150" spc="-1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vaqtini</a:t>
            </a:r>
            <a:r>
              <a:rPr sz="1150" spc="-10" dirty="0">
                <a:latin typeface="Roboto"/>
                <a:cs typeface="Roboto"/>
              </a:rPr>
              <a:t> optimallashtirish</a:t>
            </a:r>
            <a:endParaRPr sz="1150" dirty="0">
              <a:latin typeface="Roboto"/>
              <a:cs typeface="Roboto"/>
            </a:endParaRPr>
          </a:p>
          <a:p>
            <a:pPr marL="12700" marR="214629">
              <a:lnSpc>
                <a:spcPct val="168500"/>
              </a:lnSpc>
            </a:pPr>
            <a:r>
              <a:rPr sz="1150" dirty="0">
                <a:latin typeface="Roboto"/>
                <a:cs typeface="Roboto"/>
              </a:rPr>
              <a:t>Individual</a:t>
            </a:r>
            <a:r>
              <a:rPr sz="1150" spc="3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feedback</a:t>
            </a:r>
            <a:r>
              <a:rPr sz="1150" spc="3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va</a:t>
            </a:r>
            <a:r>
              <a:rPr sz="1150" spc="3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avtomatik</a:t>
            </a:r>
            <a:r>
              <a:rPr sz="1150" spc="40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baholash </a:t>
            </a:r>
            <a:r>
              <a:rPr sz="1150" dirty="0">
                <a:latin typeface="Roboto"/>
                <a:cs typeface="Roboto"/>
              </a:rPr>
              <a:t>Safety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Analytics</a:t>
            </a:r>
            <a:r>
              <a:rPr sz="1150" spc="3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va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raqamlashtirilgan</a:t>
            </a:r>
            <a:r>
              <a:rPr sz="1150" spc="35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natijalar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150" dirty="0">
                <a:latin typeface="Roboto"/>
                <a:cs typeface="Roboto"/>
              </a:rPr>
              <a:t>Nostandart</a:t>
            </a:r>
            <a:r>
              <a:rPr sz="1150" spc="2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vaziyatlarni</a:t>
            </a:r>
            <a:r>
              <a:rPr sz="1150" spc="25" dirty="0">
                <a:latin typeface="Roboto"/>
                <a:cs typeface="Roboto"/>
              </a:rPr>
              <a:t> </a:t>
            </a:r>
            <a:r>
              <a:rPr sz="1150" spc="-25" dirty="0">
                <a:latin typeface="Roboto"/>
                <a:cs typeface="Roboto"/>
              </a:rPr>
              <a:t>qayta-</a:t>
            </a:r>
            <a:r>
              <a:rPr sz="1150" spc="-10" dirty="0">
                <a:latin typeface="Roboto"/>
                <a:cs typeface="Roboto"/>
              </a:rPr>
              <a:t>qayta</a:t>
            </a:r>
            <a:r>
              <a:rPr sz="1150" spc="25" dirty="0">
                <a:latin typeface="Roboto"/>
                <a:cs typeface="Roboto"/>
              </a:rPr>
              <a:t> </a:t>
            </a:r>
            <a:r>
              <a:rPr sz="1150" dirty="0">
                <a:latin typeface="Roboto"/>
                <a:cs typeface="Roboto"/>
              </a:rPr>
              <a:t>mashq</a:t>
            </a:r>
            <a:r>
              <a:rPr sz="1150" spc="30" dirty="0">
                <a:latin typeface="Roboto"/>
                <a:cs typeface="Roboto"/>
              </a:rPr>
              <a:t> </a:t>
            </a:r>
            <a:r>
              <a:rPr sz="1150" spc="-10" dirty="0">
                <a:latin typeface="Roboto"/>
                <a:cs typeface="Roboto"/>
              </a:rPr>
              <a:t>qilish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94734" y="5705347"/>
            <a:ext cx="76962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FFFFFF"/>
                </a:solidFill>
                <a:latin typeface="Roboto Lt"/>
                <a:cs typeface="Roboto Lt"/>
              </a:rPr>
              <a:t>Narxlash</a:t>
            </a:r>
            <a:endParaRPr sz="1450">
              <a:latin typeface="Roboto Lt"/>
              <a:cs typeface="Roboto L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94734" y="6075203"/>
            <a:ext cx="4879340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Pilot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bosqichida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narxlar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hajmi,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xodimlar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soni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custom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scenario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talablariga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qarab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individual</a:t>
            </a:r>
            <a:r>
              <a:rPr sz="1150" b="1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spc="-10" dirty="0">
                <a:solidFill>
                  <a:srgbClr val="CFD0D8"/>
                </a:solidFill>
                <a:latin typeface="Roboto"/>
                <a:cs typeface="Roboto"/>
              </a:rPr>
              <a:t>aniqlanadi.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94734" y="6684803"/>
            <a:ext cx="442023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Maqsad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dastlabki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pilot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korxonalar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bilan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birgalikda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narx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modelini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validatsiya</a:t>
            </a:r>
            <a:r>
              <a:rPr sz="11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qilish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bozor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talablariga</a:t>
            </a:r>
            <a:r>
              <a:rPr sz="11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moslashtirish.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6" name="object 28">
            <a:extLst>
              <a:ext uri="{FF2B5EF4-FFF2-40B4-BE49-F238E27FC236}">
                <a16:creationId xmlns:a16="http://schemas.microsoft.com/office/drawing/2014/main" id="{D3CEAF76-0F3B-4F8E-AB20-B56EDDBF1DE6}"/>
              </a:ext>
            </a:extLst>
          </p:cNvPr>
          <p:cNvSpPr/>
          <p:nvPr/>
        </p:nvSpPr>
        <p:spPr>
          <a:xfrm>
            <a:off x="2479538" y="7875965"/>
            <a:ext cx="6318521" cy="2000250"/>
          </a:xfrm>
          <a:custGeom>
            <a:avLst/>
            <a:gdLst/>
            <a:ahLst/>
            <a:cxnLst/>
            <a:rect l="l" t="t" r="r" b="b"/>
            <a:pathLst>
              <a:path w="5143500" h="2000250">
                <a:moveTo>
                  <a:pt x="5059398" y="2000249"/>
                </a:moveTo>
                <a:lnTo>
                  <a:pt x="84101" y="2000249"/>
                </a:lnTo>
                <a:lnTo>
                  <a:pt x="78247" y="1999672"/>
                </a:lnTo>
                <a:lnTo>
                  <a:pt x="35089" y="1981795"/>
                </a:lnTo>
                <a:lnTo>
                  <a:pt x="9113" y="1950143"/>
                </a:lnTo>
                <a:lnTo>
                  <a:pt x="0" y="1916148"/>
                </a:lnTo>
                <a:lnTo>
                  <a:pt x="0" y="1910238"/>
                </a:lnTo>
                <a:lnTo>
                  <a:pt x="0" y="84100"/>
                </a:lnTo>
                <a:lnTo>
                  <a:pt x="11886" y="44917"/>
                </a:lnTo>
                <a:lnTo>
                  <a:pt x="44917" y="11885"/>
                </a:lnTo>
                <a:lnTo>
                  <a:pt x="84101" y="0"/>
                </a:lnTo>
                <a:lnTo>
                  <a:pt x="5059398" y="0"/>
                </a:lnTo>
                <a:lnTo>
                  <a:pt x="5098581" y="11885"/>
                </a:lnTo>
                <a:lnTo>
                  <a:pt x="5131612" y="44917"/>
                </a:lnTo>
                <a:lnTo>
                  <a:pt x="5143499" y="84100"/>
                </a:lnTo>
                <a:lnTo>
                  <a:pt x="5143499" y="1916148"/>
                </a:lnTo>
                <a:lnTo>
                  <a:pt x="5131612" y="1955331"/>
                </a:lnTo>
                <a:lnTo>
                  <a:pt x="5098580" y="1988362"/>
                </a:lnTo>
                <a:lnTo>
                  <a:pt x="5065251" y="1999672"/>
                </a:lnTo>
                <a:lnTo>
                  <a:pt x="5059398" y="2000249"/>
                </a:lnTo>
                <a:close/>
              </a:path>
            </a:pathLst>
          </a:custGeom>
          <a:solidFill>
            <a:srgbClr val="596ED8">
              <a:alpha val="94898"/>
            </a:srgbClr>
          </a:solidFill>
        </p:spPr>
        <p:txBody>
          <a:bodyPr wrap="square" lIns="0" tIns="0" rIns="0" bIns="0" rtlCol="0"/>
          <a:lstStyle/>
          <a:p>
            <a:r>
              <a:rPr lang="en-US" sz="1400" dirty="0"/>
              <a:t>     </a:t>
            </a:r>
          </a:p>
          <a:p>
            <a:r>
              <a:rPr lang="en-US" sz="1400" dirty="0"/>
              <a:t> </a:t>
            </a:r>
            <a:r>
              <a:rPr lang="en-US" sz="1400" b="1" dirty="0"/>
              <a:t>    </a:t>
            </a:r>
            <a:r>
              <a:rPr lang="en-US" b="1" dirty="0"/>
              <a:t>SANOAT KORXONALARI UCHUN YILLIK PRICE</a:t>
            </a:r>
          </a:p>
          <a:p>
            <a:endParaRPr lang="en-US" sz="1400" dirty="0"/>
          </a:p>
          <a:p>
            <a:r>
              <a:rPr lang="en-US" sz="1400" dirty="0"/>
              <a:t>     0-50  ----- 5300$</a:t>
            </a:r>
          </a:p>
          <a:p>
            <a:endParaRPr lang="en-US" sz="1400" dirty="0"/>
          </a:p>
          <a:p>
            <a:r>
              <a:rPr lang="en-US" sz="1400" dirty="0"/>
              <a:t>     50-100 ----- 9999$</a:t>
            </a:r>
          </a:p>
          <a:p>
            <a:endParaRPr lang="en-US" sz="1400" dirty="0"/>
          </a:p>
          <a:p>
            <a:r>
              <a:rPr lang="en-US" sz="1400" dirty="0"/>
              <a:t>     100-150 ----- 13000$</a:t>
            </a:r>
          </a:p>
          <a:p>
            <a:r>
              <a:rPr lang="en-US" sz="1400" dirty="0"/>
              <a:t>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DF6D3BB9-30D4-4F3D-A8C4-283F35FB6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89" y="2251076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0"/>
            <a:ext cx="11430000" cy="13325475"/>
          </a:xfrm>
          <a:custGeom>
            <a:avLst/>
            <a:gdLst/>
            <a:ahLst/>
            <a:cxnLst/>
            <a:rect l="l" t="t" r="r" b="b"/>
            <a:pathLst>
              <a:path w="11430000" h="11401425">
                <a:moveTo>
                  <a:pt x="11429999" y="11401424"/>
                </a:moveTo>
                <a:lnTo>
                  <a:pt x="0" y="114014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11401424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04837" y="2328862"/>
            <a:ext cx="942975" cy="219075"/>
          </a:xfrm>
          <a:custGeom>
            <a:avLst/>
            <a:gdLst/>
            <a:ahLst/>
            <a:cxnLst/>
            <a:rect l="l" t="t" r="r" b="b"/>
            <a:pathLst>
              <a:path w="942975" h="219075">
                <a:moveTo>
                  <a:pt x="0" y="181832"/>
                </a:moveTo>
                <a:lnTo>
                  <a:pt x="0" y="37242"/>
                </a:lnTo>
                <a:lnTo>
                  <a:pt x="0" y="32303"/>
                </a:lnTo>
                <a:lnTo>
                  <a:pt x="944" y="27553"/>
                </a:lnTo>
                <a:lnTo>
                  <a:pt x="2834" y="22990"/>
                </a:lnTo>
                <a:lnTo>
                  <a:pt x="4724" y="18427"/>
                </a:lnTo>
                <a:lnTo>
                  <a:pt x="7415" y="14400"/>
                </a:lnTo>
                <a:lnTo>
                  <a:pt x="10908" y="10908"/>
                </a:lnTo>
                <a:lnTo>
                  <a:pt x="14400" y="7415"/>
                </a:lnTo>
                <a:lnTo>
                  <a:pt x="18427" y="4724"/>
                </a:lnTo>
                <a:lnTo>
                  <a:pt x="22990" y="2834"/>
                </a:lnTo>
                <a:lnTo>
                  <a:pt x="27553" y="944"/>
                </a:lnTo>
                <a:lnTo>
                  <a:pt x="32304" y="0"/>
                </a:lnTo>
                <a:lnTo>
                  <a:pt x="37242" y="0"/>
                </a:lnTo>
                <a:lnTo>
                  <a:pt x="905732" y="0"/>
                </a:lnTo>
                <a:lnTo>
                  <a:pt x="910670" y="0"/>
                </a:lnTo>
                <a:lnTo>
                  <a:pt x="915421" y="944"/>
                </a:lnTo>
                <a:lnTo>
                  <a:pt x="942974" y="32303"/>
                </a:lnTo>
                <a:lnTo>
                  <a:pt x="942974" y="37242"/>
                </a:lnTo>
                <a:lnTo>
                  <a:pt x="942974" y="181832"/>
                </a:lnTo>
                <a:lnTo>
                  <a:pt x="919984" y="216239"/>
                </a:lnTo>
                <a:lnTo>
                  <a:pt x="915421" y="218129"/>
                </a:lnTo>
                <a:lnTo>
                  <a:pt x="910670" y="219074"/>
                </a:lnTo>
                <a:lnTo>
                  <a:pt x="905732" y="219074"/>
                </a:lnTo>
                <a:lnTo>
                  <a:pt x="37242" y="219074"/>
                </a:lnTo>
                <a:lnTo>
                  <a:pt x="10908" y="208166"/>
                </a:lnTo>
                <a:lnTo>
                  <a:pt x="7415" y="204674"/>
                </a:lnTo>
                <a:lnTo>
                  <a:pt x="4724" y="200647"/>
                </a:lnTo>
                <a:lnTo>
                  <a:pt x="2834" y="196084"/>
                </a:lnTo>
                <a:lnTo>
                  <a:pt x="944" y="191521"/>
                </a:lnTo>
                <a:lnTo>
                  <a:pt x="0" y="186770"/>
                </a:lnTo>
                <a:lnTo>
                  <a:pt x="0" y="181832"/>
                </a:lnTo>
                <a:close/>
              </a:path>
            </a:pathLst>
          </a:custGeom>
          <a:ln w="9524">
            <a:solidFill>
              <a:srgbClr val="596E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267" y="2343784"/>
            <a:ext cx="801370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35" dirty="0">
                <a:solidFill>
                  <a:srgbClr val="596ED8"/>
                </a:solidFill>
                <a:latin typeface="Roboto"/>
                <a:cs typeface="Roboto"/>
              </a:rPr>
              <a:t>YO'L</a:t>
            </a:r>
            <a:r>
              <a:rPr sz="950" dirty="0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sz="950" spc="-10" dirty="0">
                <a:solidFill>
                  <a:srgbClr val="596ED8"/>
                </a:solidFill>
                <a:latin typeface="Roboto"/>
                <a:cs typeface="Roboto"/>
              </a:rPr>
              <a:t>XARITASI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2593625"/>
            <a:ext cx="588772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Milestones</a:t>
            </a:r>
            <a:r>
              <a:rPr spc="-150" dirty="0"/>
              <a:t> </a:t>
            </a:r>
            <a:r>
              <a:rPr dirty="0"/>
              <a:t>—</a:t>
            </a:r>
            <a:r>
              <a:rPr spc="-145" dirty="0"/>
              <a:t> </a:t>
            </a:r>
            <a:r>
              <a:rPr dirty="0"/>
              <a:t>Maqsadlar</a:t>
            </a:r>
            <a:r>
              <a:rPr spc="-145" dirty="0"/>
              <a:t> </a:t>
            </a:r>
            <a:r>
              <a:rPr dirty="0"/>
              <a:t>va</a:t>
            </a:r>
            <a:r>
              <a:rPr spc="-150" dirty="0"/>
              <a:t> </a:t>
            </a:r>
            <a:r>
              <a:rPr spc="-25" dirty="0"/>
              <a:t>KPI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4" y="5474195"/>
            <a:ext cx="10229850" cy="609600"/>
            <a:chOff x="600074" y="3559670"/>
            <a:chExt cx="10229850" cy="609600"/>
          </a:xfrm>
        </p:grpSpPr>
        <p:sp>
          <p:nvSpPr>
            <p:cNvPr id="7" name="object 7"/>
            <p:cNvSpPr/>
            <p:nvPr/>
          </p:nvSpPr>
          <p:spPr>
            <a:xfrm>
              <a:off x="600074" y="4000499"/>
              <a:ext cx="10229850" cy="19050"/>
            </a:xfrm>
            <a:custGeom>
              <a:avLst/>
              <a:gdLst/>
              <a:ahLst/>
              <a:cxnLst/>
              <a:rect l="l" t="t" r="r" b="b"/>
              <a:pathLst>
                <a:path w="10229850" h="19050">
                  <a:moveTo>
                    <a:pt x="10222954" y="19049"/>
                  </a:moveTo>
                  <a:lnTo>
                    <a:pt x="6894" y="19049"/>
                  </a:lnTo>
                  <a:lnTo>
                    <a:pt x="4649" y="18119"/>
                  </a:lnTo>
                  <a:lnTo>
                    <a:pt x="929" y="14399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0222954" y="0"/>
                  </a:lnTo>
                  <a:lnTo>
                    <a:pt x="10225199" y="929"/>
                  </a:lnTo>
                  <a:lnTo>
                    <a:pt x="10228919" y="4649"/>
                  </a:lnTo>
                  <a:lnTo>
                    <a:pt x="10229849" y="6894"/>
                  </a:lnTo>
                  <a:lnTo>
                    <a:pt x="10229849" y="12155"/>
                  </a:lnTo>
                  <a:lnTo>
                    <a:pt x="10228919" y="14399"/>
                  </a:lnTo>
                  <a:lnTo>
                    <a:pt x="10225199" y="18119"/>
                  </a:lnTo>
                  <a:lnTo>
                    <a:pt x="10222954" y="19049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1274" y="3559670"/>
              <a:ext cx="19050" cy="447675"/>
            </a:xfrm>
            <a:custGeom>
              <a:avLst/>
              <a:gdLst/>
              <a:ahLst/>
              <a:cxnLst/>
              <a:rect l="l" t="t" r="r" b="b"/>
              <a:pathLst>
                <a:path w="19050" h="447675">
                  <a:moveTo>
                    <a:pt x="12155" y="447674"/>
                  </a:moveTo>
                  <a:lnTo>
                    <a:pt x="6894" y="447674"/>
                  </a:lnTo>
                  <a:lnTo>
                    <a:pt x="4649" y="446745"/>
                  </a:lnTo>
                  <a:lnTo>
                    <a:pt x="929" y="443025"/>
                  </a:lnTo>
                  <a:lnTo>
                    <a:pt x="0" y="440780"/>
                  </a:lnTo>
                  <a:lnTo>
                    <a:pt x="0" y="438149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2155" y="0"/>
                  </a:lnTo>
                  <a:lnTo>
                    <a:pt x="14400" y="929"/>
                  </a:lnTo>
                  <a:lnTo>
                    <a:pt x="18120" y="4649"/>
                  </a:lnTo>
                  <a:lnTo>
                    <a:pt x="19049" y="6894"/>
                  </a:lnTo>
                  <a:lnTo>
                    <a:pt x="19049" y="440780"/>
                  </a:lnTo>
                  <a:lnTo>
                    <a:pt x="18120" y="443025"/>
                  </a:lnTo>
                  <a:lnTo>
                    <a:pt x="14400" y="446745"/>
                  </a:lnTo>
                  <a:lnTo>
                    <a:pt x="12155" y="44767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24112" y="3840658"/>
              <a:ext cx="333375" cy="323850"/>
            </a:xfrm>
            <a:custGeom>
              <a:avLst/>
              <a:gdLst/>
              <a:ahLst/>
              <a:cxnLst/>
              <a:rect l="l" t="t" r="r" b="b"/>
              <a:pathLst>
                <a:path w="333375" h="323850">
                  <a:moveTo>
                    <a:pt x="291962" y="323849"/>
                  </a:moveTo>
                  <a:lnTo>
                    <a:pt x="41412" y="323849"/>
                  </a:lnTo>
                  <a:lnTo>
                    <a:pt x="35322" y="322638"/>
                  </a:lnTo>
                  <a:lnTo>
                    <a:pt x="1211" y="288527"/>
                  </a:lnTo>
                  <a:lnTo>
                    <a:pt x="0" y="282437"/>
                  </a:lnTo>
                  <a:lnTo>
                    <a:pt x="0" y="276105"/>
                  </a:lnTo>
                  <a:lnTo>
                    <a:pt x="0" y="41412"/>
                  </a:lnTo>
                  <a:lnTo>
                    <a:pt x="23623" y="6057"/>
                  </a:lnTo>
                  <a:lnTo>
                    <a:pt x="41412" y="0"/>
                  </a:lnTo>
                  <a:lnTo>
                    <a:pt x="291962" y="0"/>
                  </a:lnTo>
                  <a:lnTo>
                    <a:pt x="327317" y="23623"/>
                  </a:lnTo>
                  <a:lnTo>
                    <a:pt x="333374" y="41412"/>
                  </a:lnTo>
                  <a:lnTo>
                    <a:pt x="333374" y="282437"/>
                  </a:lnTo>
                  <a:lnTo>
                    <a:pt x="309751" y="317792"/>
                  </a:lnTo>
                  <a:lnTo>
                    <a:pt x="298052" y="322638"/>
                  </a:lnTo>
                  <a:lnTo>
                    <a:pt x="291962" y="32384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24112" y="3840658"/>
              <a:ext cx="333375" cy="323850"/>
            </a:xfrm>
            <a:custGeom>
              <a:avLst/>
              <a:gdLst/>
              <a:ahLst/>
              <a:cxnLst/>
              <a:rect l="l" t="t" r="r" b="b"/>
              <a:pathLst>
                <a:path w="333375" h="323850">
                  <a:moveTo>
                    <a:pt x="0" y="276105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3"/>
                  </a:lnTo>
                  <a:lnTo>
                    <a:pt x="6057" y="23623"/>
                  </a:lnTo>
                  <a:lnTo>
                    <a:pt x="9507" y="18460"/>
                  </a:lnTo>
                  <a:lnTo>
                    <a:pt x="13983" y="13983"/>
                  </a:lnTo>
                  <a:lnTo>
                    <a:pt x="18460" y="9507"/>
                  </a:lnTo>
                  <a:lnTo>
                    <a:pt x="23623" y="6057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285630" y="0"/>
                  </a:lnTo>
                  <a:lnTo>
                    <a:pt x="291962" y="0"/>
                  </a:lnTo>
                  <a:lnTo>
                    <a:pt x="298052" y="1211"/>
                  </a:lnTo>
                  <a:lnTo>
                    <a:pt x="303901" y="3634"/>
                  </a:lnTo>
                  <a:lnTo>
                    <a:pt x="309751" y="6057"/>
                  </a:lnTo>
                  <a:lnTo>
                    <a:pt x="314914" y="9507"/>
                  </a:lnTo>
                  <a:lnTo>
                    <a:pt x="319391" y="13983"/>
                  </a:lnTo>
                  <a:lnTo>
                    <a:pt x="323867" y="18460"/>
                  </a:lnTo>
                  <a:lnTo>
                    <a:pt x="333374" y="47744"/>
                  </a:lnTo>
                  <a:lnTo>
                    <a:pt x="333374" y="276105"/>
                  </a:lnTo>
                  <a:lnTo>
                    <a:pt x="314914" y="314342"/>
                  </a:lnTo>
                  <a:lnTo>
                    <a:pt x="285630" y="323849"/>
                  </a:lnTo>
                  <a:lnTo>
                    <a:pt x="47744" y="323849"/>
                  </a:lnTo>
                  <a:lnTo>
                    <a:pt x="41412" y="323849"/>
                  </a:lnTo>
                  <a:lnTo>
                    <a:pt x="35322" y="322638"/>
                  </a:lnTo>
                  <a:lnTo>
                    <a:pt x="29473" y="320215"/>
                  </a:lnTo>
                  <a:lnTo>
                    <a:pt x="23623" y="317792"/>
                  </a:lnTo>
                  <a:lnTo>
                    <a:pt x="18460" y="314342"/>
                  </a:lnTo>
                  <a:lnTo>
                    <a:pt x="13983" y="309866"/>
                  </a:lnTo>
                  <a:lnTo>
                    <a:pt x="9507" y="305389"/>
                  </a:lnTo>
                  <a:lnTo>
                    <a:pt x="6057" y="300226"/>
                  </a:lnTo>
                  <a:lnTo>
                    <a:pt x="3634" y="294376"/>
                  </a:lnTo>
                  <a:lnTo>
                    <a:pt x="1211" y="288527"/>
                  </a:lnTo>
                  <a:lnTo>
                    <a:pt x="0" y="282437"/>
                  </a:lnTo>
                  <a:lnTo>
                    <a:pt x="0" y="276105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13061" y="5753098"/>
            <a:ext cx="15367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5018" y="3255012"/>
            <a:ext cx="1999285" cy="2391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HOZIR —</a:t>
            </a:r>
            <a:r>
              <a:rPr sz="1450" spc="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MV</a:t>
            </a:r>
            <a:r>
              <a:rPr lang="uz-Latn-UZ" sz="1450" spc="-25" dirty="0">
                <a:solidFill>
                  <a:srgbClr val="CFD0D8"/>
                </a:solidFill>
                <a:latin typeface="Roboto Lt"/>
                <a:cs typeface="Roboto Lt"/>
              </a:rPr>
              <a:t>P</a:t>
            </a:r>
            <a:endParaRPr sz="1450" dirty="0">
              <a:latin typeface="Roboto Lt"/>
              <a:cs typeface="Roboto 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1524" y="3724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1524" y="4019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1524" y="43148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1524" y="4600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8093" y="3637756"/>
            <a:ext cx="3463290" cy="16541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1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sanoat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xavfsizligi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scenario</a:t>
            </a:r>
            <a:endParaRPr sz="1150" dirty="0">
              <a:latin typeface="Roboto"/>
              <a:cs typeface="Roboto"/>
            </a:endParaRPr>
          </a:p>
          <a:p>
            <a:pPr marL="131445" marR="996315">
              <a:lnSpc>
                <a:spcPct val="168500"/>
              </a:lnSpc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VR/XR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prototip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action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analysis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Score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va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feedback</a:t>
            </a:r>
            <a:endParaRPr sz="1150" dirty="0">
              <a:latin typeface="Roboto"/>
              <a:cs typeface="Roboto"/>
            </a:endParaRPr>
          </a:p>
          <a:p>
            <a:pPr marL="131445">
              <a:lnSpc>
                <a:spcPct val="100000"/>
              </a:lnSpc>
              <a:spcBef>
                <a:spcPts val="869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Trainer</a:t>
            </a:r>
            <a:r>
              <a:rPr sz="11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dashboard</a:t>
            </a:r>
            <a:endParaRPr sz="1150" dirty="0">
              <a:latin typeface="Roboto"/>
              <a:cs typeface="Roboto"/>
            </a:endParaRPr>
          </a:p>
          <a:p>
            <a:pPr marL="661670" marR="5080" indent="-649605" algn="l">
              <a:lnSpc>
                <a:spcPct val="130200"/>
              </a:lnSpc>
              <a:spcBef>
                <a:spcPts val="760"/>
              </a:spcBef>
            </a:pPr>
            <a:r>
              <a:rPr sz="1200" i="1" dirty="0">
                <a:solidFill>
                  <a:srgbClr val="CFD0D8"/>
                </a:solidFill>
                <a:latin typeface="Roboto"/>
                <a:cs typeface="Roboto"/>
              </a:rPr>
              <a:t>MVP</a:t>
            </a:r>
            <a:r>
              <a:rPr sz="1200" i="1" spc="-20" dirty="0">
                <a:solidFill>
                  <a:srgbClr val="CFD0D8"/>
                </a:solidFill>
                <a:latin typeface="Roboto"/>
                <a:cs typeface="Roboto"/>
              </a:rPr>
              <a:t> scenario:</a:t>
            </a:r>
            <a:r>
              <a:rPr sz="1200" i="1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dirty="0">
                <a:solidFill>
                  <a:srgbClr val="CFD0D8"/>
                </a:solidFill>
                <a:latin typeface="Roboto"/>
                <a:cs typeface="Roboto"/>
              </a:rPr>
              <a:t>Elektr</a:t>
            </a:r>
            <a:r>
              <a:rPr sz="1200" i="1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0" dirty="0">
                <a:solidFill>
                  <a:srgbClr val="CFD0D8"/>
                </a:solidFill>
                <a:latin typeface="Roboto"/>
                <a:cs typeface="Roboto"/>
              </a:rPr>
              <a:t>xavfsizligi</a:t>
            </a:r>
            <a:r>
              <a:rPr sz="1200" i="1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40" dirty="0" err="1">
                <a:solidFill>
                  <a:srgbClr val="CFD0D8"/>
                </a:solidFill>
                <a:latin typeface="Roboto"/>
                <a:cs typeface="Roboto"/>
              </a:rPr>
              <a:t>bo'yicha</a:t>
            </a:r>
            <a:r>
              <a:rPr sz="1200" i="1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0" dirty="0" err="1">
                <a:solidFill>
                  <a:srgbClr val="CFD0D8"/>
                </a:solidFill>
                <a:latin typeface="Roboto"/>
                <a:cs typeface="Roboto"/>
              </a:rPr>
              <a:t>favqulodda</a:t>
            </a:r>
            <a:r>
              <a:rPr lang="ru-RU" sz="1200" i="1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5" dirty="0" err="1">
                <a:solidFill>
                  <a:srgbClr val="CFD0D8"/>
                </a:solidFill>
                <a:latin typeface="Roboto"/>
                <a:cs typeface="Roboto"/>
              </a:rPr>
              <a:t>vaziyat</a:t>
            </a:r>
            <a:r>
              <a:rPr sz="1200" i="1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20" dirty="0">
                <a:solidFill>
                  <a:srgbClr val="CFD0D8"/>
                </a:solidFill>
                <a:latin typeface="Roboto"/>
                <a:cs typeface="Roboto"/>
              </a:rPr>
              <a:t>yoki</a:t>
            </a:r>
            <a:r>
              <a:rPr sz="1200" i="1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00" i="1" spc="-10" dirty="0">
                <a:solidFill>
                  <a:srgbClr val="CFD0D8"/>
                </a:solidFill>
                <a:latin typeface="Roboto"/>
                <a:cs typeface="Roboto"/>
              </a:rPr>
              <a:t>Yong'in/evakuatsiya</a:t>
            </a:r>
            <a:endParaRPr sz="1200" dirty="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05325" y="5746253"/>
            <a:ext cx="333375" cy="619125"/>
            <a:chOff x="4505325" y="3831728"/>
            <a:chExt cx="333375" cy="619125"/>
          </a:xfrm>
        </p:grpSpPr>
        <p:sp>
          <p:nvSpPr>
            <p:cNvPr id="19" name="object 19"/>
            <p:cNvSpPr/>
            <p:nvPr/>
          </p:nvSpPr>
          <p:spPr>
            <a:xfrm>
              <a:off x="4667249" y="4003178"/>
              <a:ext cx="19050" cy="447675"/>
            </a:xfrm>
            <a:custGeom>
              <a:avLst/>
              <a:gdLst/>
              <a:ahLst/>
              <a:cxnLst/>
              <a:rect l="l" t="t" r="r" b="b"/>
              <a:pathLst>
                <a:path w="19050" h="447675">
                  <a:moveTo>
                    <a:pt x="12155" y="447674"/>
                  </a:moveTo>
                  <a:lnTo>
                    <a:pt x="6894" y="447674"/>
                  </a:lnTo>
                  <a:lnTo>
                    <a:pt x="4649" y="446745"/>
                  </a:lnTo>
                  <a:lnTo>
                    <a:pt x="929" y="443025"/>
                  </a:lnTo>
                  <a:lnTo>
                    <a:pt x="0" y="440780"/>
                  </a:lnTo>
                  <a:lnTo>
                    <a:pt x="0" y="438149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2155" y="0"/>
                  </a:lnTo>
                  <a:lnTo>
                    <a:pt x="14400" y="929"/>
                  </a:lnTo>
                  <a:lnTo>
                    <a:pt x="18120" y="4649"/>
                  </a:lnTo>
                  <a:lnTo>
                    <a:pt x="19049" y="6894"/>
                  </a:lnTo>
                  <a:lnTo>
                    <a:pt x="19049" y="440780"/>
                  </a:lnTo>
                  <a:lnTo>
                    <a:pt x="18120" y="443025"/>
                  </a:lnTo>
                  <a:lnTo>
                    <a:pt x="14400" y="446745"/>
                  </a:lnTo>
                  <a:lnTo>
                    <a:pt x="12155" y="44767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10087" y="3836491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282437" y="333374"/>
                  </a:moveTo>
                  <a:lnTo>
                    <a:pt x="41412" y="333374"/>
                  </a:lnTo>
                  <a:lnTo>
                    <a:pt x="35322" y="332163"/>
                  </a:lnTo>
                  <a:lnTo>
                    <a:pt x="1211" y="298052"/>
                  </a:lnTo>
                  <a:lnTo>
                    <a:pt x="0" y="291962"/>
                  </a:lnTo>
                  <a:lnTo>
                    <a:pt x="0" y="285630"/>
                  </a:lnTo>
                  <a:lnTo>
                    <a:pt x="0" y="41412"/>
                  </a:lnTo>
                  <a:lnTo>
                    <a:pt x="23623" y="6057"/>
                  </a:lnTo>
                  <a:lnTo>
                    <a:pt x="41412" y="0"/>
                  </a:lnTo>
                  <a:lnTo>
                    <a:pt x="282437" y="0"/>
                  </a:lnTo>
                  <a:lnTo>
                    <a:pt x="317792" y="23623"/>
                  </a:lnTo>
                  <a:lnTo>
                    <a:pt x="323849" y="41412"/>
                  </a:lnTo>
                  <a:lnTo>
                    <a:pt x="323849" y="291962"/>
                  </a:lnTo>
                  <a:lnTo>
                    <a:pt x="300226" y="327317"/>
                  </a:lnTo>
                  <a:lnTo>
                    <a:pt x="288527" y="332163"/>
                  </a:lnTo>
                  <a:lnTo>
                    <a:pt x="282437" y="3333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10087" y="3836491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2856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3"/>
                  </a:lnTo>
                  <a:lnTo>
                    <a:pt x="6057" y="23623"/>
                  </a:lnTo>
                  <a:lnTo>
                    <a:pt x="9507" y="18460"/>
                  </a:lnTo>
                  <a:lnTo>
                    <a:pt x="13983" y="13983"/>
                  </a:lnTo>
                  <a:lnTo>
                    <a:pt x="18460" y="9507"/>
                  </a:lnTo>
                  <a:lnTo>
                    <a:pt x="23623" y="6057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276105" y="0"/>
                  </a:lnTo>
                  <a:lnTo>
                    <a:pt x="282437" y="0"/>
                  </a:lnTo>
                  <a:lnTo>
                    <a:pt x="288527" y="1211"/>
                  </a:lnTo>
                  <a:lnTo>
                    <a:pt x="294376" y="3634"/>
                  </a:lnTo>
                  <a:lnTo>
                    <a:pt x="300226" y="6057"/>
                  </a:lnTo>
                  <a:lnTo>
                    <a:pt x="305389" y="9507"/>
                  </a:lnTo>
                  <a:lnTo>
                    <a:pt x="309866" y="13983"/>
                  </a:lnTo>
                  <a:lnTo>
                    <a:pt x="314342" y="18460"/>
                  </a:lnTo>
                  <a:lnTo>
                    <a:pt x="323849" y="47744"/>
                  </a:lnTo>
                  <a:lnTo>
                    <a:pt x="323849" y="285630"/>
                  </a:lnTo>
                  <a:lnTo>
                    <a:pt x="323849" y="291962"/>
                  </a:lnTo>
                  <a:lnTo>
                    <a:pt x="322638" y="298052"/>
                  </a:lnTo>
                  <a:lnTo>
                    <a:pt x="320215" y="303901"/>
                  </a:lnTo>
                  <a:lnTo>
                    <a:pt x="317792" y="309751"/>
                  </a:lnTo>
                  <a:lnTo>
                    <a:pt x="282437" y="333374"/>
                  </a:lnTo>
                  <a:lnTo>
                    <a:pt x="276105" y="333374"/>
                  </a:lnTo>
                  <a:lnTo>
                    <a:pt x="47744" y="333374"/>
                  </a:lnTo>
                  <a:lnTo>
                    <a:pt x="13983" y="319391"/>
                  </a:lnTo>
                  <a:lnTo>
                    <a:pt x="9507" y="314914"/>
                  </a:lnTo>
                  <a:lnTo>
                    <a:pt x="6057" y="309751"/>
                  </a:lnTo>
                  <a:lnTo>
                    <a:pt x="3634" y="303901"/>
                  </a:lnTo>
                  <a:lnTo>
                    <a:pt x="1211" y="298052"/>
                  </a:lnTo>
                  <a:lnTo>
                    <a:pt x="0" y="291962"/>
                  </a:lnTo>
                  <a:lnTo>
                    <a:pt x="0" y="285630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96507" y="5748930"/>
            <a:ext cx="15367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47974" y="6943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47974" y="7229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47974" y="75247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47974" y="7820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60749" y="6486397"/>
            <a:ext cx="2584450" cy="1452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50594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6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OY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—</a:t>
            </a:r>
            <a:r>
              <a:rPr sz="1450" spc="-5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TARGET</a:t>
            </a:r>
            <a:endParaRPr sz="1450" dirty="0">
              <a:latin typeface="Roboto Lt"/>
              <a:cs typeface="Roboto Lt"/>
            </a:endParaRPr>
          </a:p>
          <a:p>
            <a:pPr marL="12700" marR="1174750">
              <a:lnSpc>
                <a:spcPct val="163000"/>
              </a:lnSpc>
              <a:spcBef>
                <a:spcPts val="31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10+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scenario</a:t>
            </a:r>
            <a:r>
              <a:rPr sz="1150" spc="50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3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ta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sanoat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FD0D8"/>
                </a:solidFill>
                <a:latin typeface="Roboto"/>
                <a:cs typeface="Roboto"/>
              </a:rPr>
              <a:t>yo'nalishi</a:t>
            </a:r>
            <a:endParaRPr sz="1150" dirty="0">
              <a:latin typeface="Roboto"/>
              <a:cs typeface="Roboto"/>
            </a:endParaRPr>
          </a:p>
          <a:p>
            <a:pPr marL="12700" marR="5080">
              <a:lnSpc>
                <a:spcPct val="168500"/>
              </a:lnSpc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Navoiydagi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pilot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korxonalar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bilan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sinov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500+</a:t>
            </a:r>
            <a:r>
              <a:rPr sz="1150" spc="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91300" y="5474195"/>
            <a:ext cx="333375" cy="609600"/>
            <a:chOff x="6591300" y="3559670"/>
            <a:chExt cx="333375" cy="609600"/>
          </a:xfrm>
        </p:grpSpPr>
        <p:sp>
          <p:nvSpPr>
            <p:cNvPr id="29" name="object 29"/>
            <p:cNvSpPr/>
            <p:nvPr/>
          </p:nvSpPr>
          <p:spPr>
            <a:xfrm>
              <a:off x="6743700" y="3559670"/>
              <a:ext cx="19050" cy="447675"/>
            </a:xfrm>
            <a:custGeom>
              <a:avLst/>
              <a:gdLst/>
              <a:ahLst/>
              <a:cxnLst/>
              <a:rect l="l" t="t" r="r" b="b"/>
              <a:pathLst>
                <a:path w="19050" h="447675">
                  <a:moveTo>
                    <a:pt x="12155" y="447674"/>
                  </a:moveTo>
                  <a:lnTo>
                    <a:pt x="6894" y="447674"/>
                  </a:lnTo>
                  <a:lnTo>
                    <a:pt x="4649" y="446745"/>
                  </a:lnTo>
                  <a:lnTo>
                    <a:pt x="929" y="443025"/>
                  </a:lnTo>
                  <a:lnTo>
                    <a:pt x="0" y="440780"/>
                  </a:lnTo>
                  <a:lnTo>
                    <a:pt x="0" y="438149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2155" y="0"/>
                  </a:lnTo>
                  <a:lnTo>
                    <a:pt x="14400" y="929"/>
                  </a:lnTo>
                  <a:lnTo>
                    <a:pt x="18120" y="4649"/>
                  </a:lnTo>
                  <a:lnTo>
                    <a:pt x="19049" y="6894"/>
                  </a:lnTo>
                  <a:lnTo>
                    <a:pt x="19049" y="440780"/>
                  </a:lnTo>
                  <a:lnTo>
                    <a:pt x="18120" y="443025"/>
                  </a:lnTo>
                  <a:lnTo>
                    <a:pt x="14400" y="446745"/>
                  </a:lnTo>
                  <a:lnTo>
                    <a:pt x="12155" y="44767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96062" y="3840658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82437" y="323849"/>
                  </a:moveTo>
                  <a:lnTo>
                    <a:pt x="41412" y="323849"/>
                  </a:lnTo>
                  <a:lnTo>
                    <a:pt x="35322" y="322638"/>
                  </a:lnTo>
                  <a:lnTo>
                    <a:pt x="1211" y="288527"/>
                  </a:lnTo>
                  <a:lnTo>
                    <a:pt x="0" y="282437"/>
                  </a:lnTo>
                  <a:lnTo>
                    <a:pt x="0" y="276105"/>
                  </a:lnTo>
                  <a:lnTo>
                    <a:pt x="0" y="41412"/>
                  </a:lnTo>
                  <a:lnTo>
                    <a:pt x="23623" y="6057"/>
                  </a:lnTo>
                  <a:lnTo>
                    <a:pt x="41412" y="0"/>
                  </a:lnTo>
                  <a:lnTo>
                    <a:pt x="282437" y="0"/>
                  </a:lnTo>
                  <a:lnTo>
                    <a:pt x="317792" y="23623"/>
                  </a:lnTo>
                  <a:lnTo>
                    <a:pt x="323849" y="41412"/>
                  </a:lnTo>
                  <a:lnTo>
                    <a:pt x="323849" y="282437"/>
                  </a:lnTo>
                  <a:lnTo>
                    <a:pt x="300226" y="317792"/>
                  </a:lnTo>
                  <a:lnTo>
                    <a:pt x="288527" y="322638"/>
                  </a:lnTo>
                  <a:lnTo>
                    <a:pt x="282437" y="32384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96062" y="3840658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276105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3"/>
                  </a:lnTo>
                  <a:lnTo>
                    <a:pt x="6057" y="23623"/>
                  </a:lnTo>
                  <a:lnTo>
                    <a:pt x="9507" y="18460"/>
                  </a:lnTo>
                  <a:lnTo>
                    <a:pt x="13983" y="13983"/>
                  </a:lnTo>
                  <a:lnTo>
                    <a:pt x="18460" y="9507"/>
                  </a:lnTo>
                  <a:lnTo>
                    <a:pt x="23623" y="6057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276105" y="0"/>
                  </a:lnTo>
                  <a:lnTo>
                    <a:pt x="282437" y="0"/>
                  </a:lnTo>
                  <a:lnTo>
                    <a:pt x="288527" y="1211"/>
                  </a:lnTo>
                  <a:lnTo>
                    <a:pt x="294376" y="3634"/>
                  </a:lnTo>
                  <a:lnTo>
                    <a:pt x="300226" y="6057"/>
                  </a:lnTo>
                  <a:lnTo>
                    <a:pt x="305389" y="9507"/>
                  </a:lnTo>
                  <a:lnTo>
                    <a:pt x="309866" y="13983"/>
                  </a:lnTo>
                  <a:lnTo>
                    <a:pt x="314342" y="18460"/>
                  </a:lnTo>
                  <a:lnTo>
                    <a:pt x="323849" y="47744"/>
                  </a:lnTo>
                  <a:lnTo>
                    <a:pt x="323849" y="276105"/>
                  </a:lnTo>
                  <a:lnTo>
                    <a:pt x="323849" y="282437"/>
                  </a:lnTo>
                  <a:lnTo>
                    <a:pt x="322638" y="288527"/>
                  </a:lnTo>
                  <a:lnTo>
                    <a:pt x="320215" y="294376"/>
                  </a:lnTo>
                  <a:lnTo>
                    <a:pt x="317792" y="300226"/>
                  </a:lnTo>
                  <a:lnTo>
                    <a:pt x="282437" y="323849"/>
                  </a:lnTo>
                  <a:lnTo>
                    <a:pt x="276105" y="323849"/>
                  </a:lnTo>
                  <a:lnTo>
                    <a:pt x="47744" y="323849"/>
                  </a:lnTo>
                  <a:lnTo>
                    <a:pt x="41412" y="323849"/>
                  </a:lnTo>
                  <a:lnTo>
                    <a:pt x="35322" y="322638"/>
                  </a:lnTo>
                  <a:lnTo>
                    <a:pt x="29473" y="320215"/>
                  </a:lnTo>
                  <a:lnTo>
                    <a:pt x="23623" y="317792"/>
                  </a:lnTo>
                  <a:lnTo>
                    <a:pt x="18460" y="314342"/>
                  </a:lnTo>
                  <a:lnTo>
                    <a:pt x="13983" y="309866"/>
                  </a:lnTo>
                  <a:lnTo>
                    <a:pt x="9507" y="305389"/>
                  </a:lnTo>
                  <a:lnTo>
                    <a:pt x="6057" y="300226"/>
                  </a:lnTo>
                  <a:lnTo>
                    <a:pt x="3634" y="294376"/>
                  </a:lnTo>
                  <a:lnTo>
                    <a:pt x="1211" y="288527"/>
                  </a:lnTo>
                  <a:lnTo>
                    <a:pt x="0" y="282437"/>
                  </a:lnTo>
                  <a:lnTo>
                    <a:pt x="0" y="276105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679951" y="5753098"/>
            <a:ext cx="15367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4597" y="3374813"/>
            <a:ext cx="1780779" cy="2391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YIL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—</a:t>
            </a:r>
            <a:r>
              <a:rPr sz="1450" spc="-5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TARGET</a:t>
            </a:r>
            <a:endParaRPr sz="1450" dirty="0">
              <a:latin typeface="Roboto Lt"/>
              <a:cs typeface="Roboto 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4598" y="45622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24597" y="48670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458169" y="3927731"/>
            <a:ext cx="2458897" cy="107362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30+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scenario</a:t>
            </a:r>
            <a:endParaRPr sz="1150" dirty="0">
              <a:latin typeface="Roboto"/>
              <a:cs typeface="Roboto"/>
            </a:endParaRPr>
          </a:p>
          <a:p>
            <a:pPr marL="12700" marR="5080">
              <a:lnSpc>
                <a:spcPct val="165800"/>
              </a:lnSpc>
              <a:spcBef>
                <a:spcPts val="3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adaptive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training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Individual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Profile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Trainer</a:t>
            </a:r>
            <a:r>
              <a:rPr sz="11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Analytics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CFD0D8"/>
                </a:solidFill>
                <a:latin typeface="Roboto"/>
                <a:cs typeface="Roboto"/>
              </a:rPr>
              <a:t>2.0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5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000+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667750" y="5746253"/>
            <a:ext cx="342900" cy="619125"/>
            <a:chOff x="8667750" y="3831728"/>
            <a:chExt cx="342900" cy="619125"/>
          </a:xfrm>
        </p:grpSpPr>
        <p:sp>
          <p:nvSpPr>
            <p:cNvPr id="41" name="object 41"/>
            <p:cNvSpPr/>
            <p:nvPr/>
          </p:nvSpPr>
          <p:spPr>
            <a:xfrm>
              <a:off x="8829674" y="4003178"/>
              <a:ext cx="19050" cy="447675"/>
            </a:xfrm>
            <a:custGeom>
              <a:avLst/>
              <a:gdLst/>
              <a:ahLst/>
              <a:cxnLst/>
              <a:rect l="l" t="t" r="r" b="b"/>
              <a:pathLst>
                <a:path w="19050" h="447675">
                  <a:moveTo>
                    <a:pt x="12155" y="447674"/>
                  </a:moveTo>
                  <a:lnTo>
                    <a:pt x="6894" y="447674"/>
                  </a:lnTo>
                  <a:lnTo>
                    <a:pt x="4649" y="446745"/>
                  </a:lnTo>
                  <a:lnTo>
                    <a:pt x="929" y="443025"/>
                  </a:lnTo>
                  <a:lnTo>
                    <a:pt x="0" y="440780"/>
                  </a:lnTo>
                  <a:lnTo>
                    <a:pt x="0" y="438149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12155" y="0"/>
                  </a:lnTo>
                  <a:lnTo>
                    <a:pt x="14400" y="929"/>
                  </a:lnTo>
                  <a:lnTo>
                    <a:pt x="18120" y="4649"/>
                  </a:lnTo>
                  <a:lnTo>
                    <a:pt x="19049" y="6894"/>
                  </a:lnTo>
                  <a:lnTo>
                    <a:pt x="19049" y="440780"/>
                  </a:lnTo>
                  <a:lnTo>
                    <a:pt x="18120" y="443025"/>
                  </a:lnTo>
                  <a:lnTo>
                    <a:pt x="14400" y="446745"/>
                  </a:lnTo>
                  <a:lnTo>
                    <a:pt x="12155" y="447674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72512" y="3836491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91962" y="333374"/>
                  </a:moveTo>
                  <a:lnTo>
                    <a:pt x="41412" y="333374"/>
                  </a:lnTo>
                  <a:lnTo>
                    <a:pt x="35322" y="332163"/>
                  </a:lnTo>
                  <a:lnTo>
                    <a:pt x="1211" y="298052"/>
                  </a:lnTo>
                  <a:lnTo>
                    <a:pt x="0" y="291962"/>
                  </a:lnTo>
                  <a:lnTo>
                    <a:pt x="0" y="285630"/>
                  </a:lnTo>
                  <a:lnTo>
                    <a:pt x="0" y="41412"/>
                  </a:lnTo>
                  <a:lnTo>
                    <a:pt x="23623" y="6057"/>
                  </a:lnTo>
                  <a:lnTo>
                    <a:pt x="41412" y="0"/>
                  </a:lnTo>
                  <a:lnTo>
                    <a:pt x="291962" y="0"/>
                  </a:lnTo>
                  <a:lnTo>
                    <a:pt x="327317" y="23623"/>
                  </a:lnTo>
                  <a:lnTo>
                    <a:pt x="333374" y="41412"/>
                  </a:lnTo>
                  <a:lnTo>
                    <a:pt x="333374" y="291962"/>
                  </a:lnTo>
                  <a:lnTo>
                    <a:pt x="309751" y="327317"/>
                  </a:lnTo>
                  <a:lnTo>
                    <a:pt x="298052" y="332163"/>
                  </a:lnTo>
                  <a:lnTo>
                    <a:pt x="291962" y="33337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72512" y="3836491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856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3"/>
                  </a:lnTo>
                  <a:lnTo>
                    <a:pt x="6057" y="23623"/>
                  </a:lnTo>
                  <a:lnTo>
                    <a:pt x="9507" y="18460"/>
                  </a:lnTo>
                  <a:lnTo>
                    <a:pt x="13983" y="13983"/>
                  </a:lnTo>
                  <a:lnTo>
                    <a:pt x="18460" y="9507"/>
                  </a:lnTo>
                  <a:lnTo>
                    <a:pt x="23623" y="6057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285630" y="0"/>
                  </a:lnTo>
                  <a:lnTo>
                    <a:pt x="291962" y="0"/>
                  </a:lnTo>
                  <a:lnTo>
                    <a:pt x="298052" y="1211"/>
                  </a:lnTo>
                  <a:lnTo>
                    <a:pt x="303901" y="3634"/>
                  </a:lnTo>
                  <a:lnTo>
                    <a:pt x="309751" y="6057"/>
                  </a:lnTo>
                  <a:lnTo>
                    <a:pt x="314914" y="9507"/>
                  </a:lnTo>
                  <a:lnTo>
                    <a:pt x="319391" y="13983"/>
                  </a:lnTo>
                  <a:lnTo>
                    <a:pt x="323867" y="18460"/>
                  </a:lnTo>
                  <a:lnTo>
                    <a:pt x="333374" y="47744"/>
                  </a:lnTo>
                  <a:lnTo>
                    <a:pt x="333374" y="285630"/>
                  </a:lnTo>
                  <a:lnTo>
                    <a:pt x="314914" y="323867"/>
                  </a:lnTo>
                  <a:lnTo>
                    <a:pt x="285630" y="333374"/>
                  </a:lnTo>
                  <a:lnTo>
                    <a:pt x="47744" y="333374"/>
                  </a:lnTo>
                  <a:lnTo>
                    <a:pt x="13983" y="319391"/>
                  </a:lnTo>
                  <a:lnTo>
                    <a:pt x="9507" y="314914"/>
                  </a:lnTo>
                  <a:lnTo>
                    <a:pt x="6057" y="309751"/>
                  </a:lnTo>
                  <a:lnTo>
                    <a:pt x="3634" y="303901"/>
                  </a:lnTo>
                  <a:lnTo>
                    <a:pt x="1211" y="298052"/>
                  </a:lnTo>
                  <a:lnTo>
                    <a:pt x="0" y="291962"/>
                  </a:lnTo>
                  <a:lnTo>
                    <a:pt x="0" y="285630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763396" y="5748930"/>
            <a:ext cx="15367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4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019924" y="6943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19924" y="7229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19924" y="75247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019924" y="7820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19924" y="8105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227639" y="6486397"/>
            <a:ext cx="2527935" cy="1738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599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YIL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—</a:t>
            </a:r>
            <a:r>
              <a:rPr sz="1450" spc="-5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TARGET</a:t>
            </a:r>
            <a:endParaRPr sz="14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100+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industrial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scenario</a:t>
            </a:r>
            <a:endParaRPr sz="1150">
              <a:latin typeface="Roboto"/>
              <a:cs typeface="Roboto"/>
            </a:endParaRPr>
          </a:p>
          <a:p>
            <a:pPr marL="12700" marR="530225">
              <a:lnSpc>
                <a:spcPts val="2330"/>
              </a:lnSpc>
              <a:spcBef>
                <a:spcPts val="155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O'zbekiston</a:t>
            </a:r>
            <a:r>
              <a:rPr sz="1150" spc="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bo'ylab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kengayish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100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000+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trening</a:t>
            </a:r>
            <a:endParaRPr sz="1150">
              <a:latin typeface="Roboto"/>
              <a:cs typeface="Roboto"/>
            </a:endParaRPr>
          </a:p>
          <a:p>
            <a:pPr marL="12700" marR="5080">
              <a:lnSpc>
                <a:spcPts val="2250"/>
              </a:lnSpc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Konchilik,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kimyo,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energetika</a:t>
            </a:r>
            <a:r>
              <a:rPr sz="1150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modullari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Markaziy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Osiyo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bozoriga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chiqish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00074" y="8458199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2954" y="19049"/>
                </a:moveTo>
                <a:lnTo>
                  <a:pt x="6894" y="19049"/>
                </a:lnTo>
                <a:lnTo>
                  <a:pt x="4649" y="18119"/>
                </a:lnTo>
                <a:lnTo>
                  <a:pt x="929" y="14399"/>
                </a:lnTo>
                <a:lnTo>
                  <a:pt x="0" y="12154"/>
                </a:lnTo>
                <a:lnTo>
                  <a:pt x="0" y="9524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0222954" y="0"/>
                </a:lnTo>
                <a:lnTo>
                  <a:pt x="10225199" y="929"/>
                </a:lnTo>
                <a:lnTo>
                  <a:pt x="10228919" y="4649"/>
                </a:lnTo>
                <a:lnTo>
                  <a:pt x="10229849" y="6894"/>
                </a:lnTo>
                <a:lnTo>
                  <a:pt x="10229849" y="12154"/>
                </a:lnTo>
                <a:lnTo>
                  <a:pt x="10228919" y="14399"/>
                </a:lnTo>
                <a:lnTo>
                  <a:pt x="10225199" y="18119"/>
                </a:lnTo>
                <a:lnTo>
                  <a:pt x="10222954" y="19049"/>
                </a:lnTo>
                <a:close/>
              </a:path>
            </a:pathLst>
          </a:custGeom>
          <a:solidFill>
            <a:srgbClr val="CFD0D8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34">
            <a:extLst>
              <a:ext uri="{FF2B5EF4-FFF2-40B4-BE49-F238E27FC236}">
                <a16:creationId xmlns:a16="http://schemas.microsoft.com/office/drawing/2014/main" id="{0EEDE0BF-2E2E-4DDA-AE3A-B12294C00295}"/>
              </a:ext>
            </a:extLst>
          </p:cNvPr>
          <p:cNvSpPr/>
          <p:nvPr/>
        </p:nvSpPr>
        <p:spPr>
          <a:xfrm>
            <a:off x="6324600" y="4019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34">
            <a:extLst>
              <a:ext uri="{FF2B5EF4-FFF2-40B4-BE49-F238E27FC236}">
                <a16:creationId xmlns:a16="http://schemas.microsoft.com/office/drawing/2014/main" id="{E74273FA-95F9-4A79-B730-0990654D941F}"/>
              </a:ext>
            </a:extLst>
          </p:cNvPr>
          <p:cNvSpPr/>
          <p:nvPr/>
        </p:nvSpPr>
        <p:spPr>
          <a:xfrm>
            <a:off x="6324600" y="427063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44C2665-13AE-40A9-BCFD-5126E091D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89" y="2251076"/>
            <a:ext cx="10363197" cy="690879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9525"/>
            <a:ext cx="11430000" cy="11401425"/>
          </a:xfrm>
          <a:custGeom>
            <a:avLst/>
            <a:gdLst/>
            <a:ahLst/>
            <a:cxnLst/>
            <a:rect l="l" t="t" r="r" b="b"/>
            <a:pathLst>
              <a:path w="11430000" h="11401425">
                <a:moveTo>
                  <a:pt x="11429999" y="11401424"/>
                </a:moveTo>
                <a:lnTo>
                  <a:pt x="0" y="114014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11401424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51" name="object 51"/>
          <p:cNvSpPr/>
          <p:nvPr/>
        </p:nvSpPr>
        <p:spPr>
          <a:xfrm>
            <a:off x="413656" y="1137787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2954" y="19049"/>
                </a:moveTo>
                <a:lnTo>
                  <a:pt x="6894" y="19049"/>
                </a:lnTo>
                <a:lnTo>
                  <a:pt x="4649" y="18119"/>
                </a:lnTo>
                <a:lnTo>
                  <a:pt x="929" y="14399"/>
                </a:lnTo>
                <a:lnTo>
                  <a:pt x="0" y="12154"/>
                </a:lnTo>
                <a:lnTo>
                  <a:pt x="0" y="9524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0222954" y="0"/>
                </a:lnTo>
                <a:lnTo>
                  <a:pt x="10225199" y="929"/>
                </a:lnTo>
                <a:lnTo>
                  <a:pt x="10228919" y="4649"/>
                </a:lnTo>
                <a:lnTo>
                  <a:pt x="10229849" y="6894"/>
                </a:lnTo>
                <a:lnTo>
                  <a:pt x="10229849" y="12154"/>
                </a:lnTo>
                <a:lnTo>
                  <a:pt x="10228919" y="14399"/>
                </a:lnTo>
                <a:lnTo>
                  <a:pt x="10225199" y="18119"/>
                </a:lnTo>
                <a:lnTo>
                  <a:pt x="10222954" y="19049"/>
                </a:lnTo>
                <a:close/>
              </a:path>
            </a:pathLst>
          </a:custGeom>
          <a:solidFill>
            <a:srgbClr val="CFD0D8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13656" y="427719"/>
            <a:ext cx="2202544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spc="-10" dirty="0">
                <a:solidFill>
                  <a:srgbClr val="FFFFFF"/>
                </a:solidFill>
                <a:latin typeface="Roboto Lt"/>
                <a:cs typeface="Roboto Lt"/>
              </a:rPr>
              <a:t>Jamoa</a:t>
            </a:r>
            <a:endParaRPr sz="3200" dirty="0">
              <a:latin typeface="Roboto Lt"/>
              <a:cs typeface="Roboto L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13656" y="2001246"/>
            <a:ext cx="10496518" cy="2510917"/>
            <a:chOff x="604837" y="7434261"/>
            <a:chExt cx="5029200" cy="1200150"/>
          </a:xfrm>
        </p:grpSpPr>
        <p:sp>
          <p:nvSpPr>
            <p:cNvPr id="54" name="object 54"/>
            <p:cNvSpPr/>
            <p:nvPr/>
          </p:nvSpPr>
          <p:spPr>
            <a:xfrm>
              <a:off x="604837" y="7434261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4987786" y="1200149"/>
                  </a:moveTo>
                  <a:lnTo>
                    <a:pt x="41412" y="1200149"/>
                  </a:lnTo>
                  <a:lnTo>
                    <a:pt x="35322" y="1198937"/>
                  </a:lnTo>
                  <a:lnTo>
                    <a:pt x="1211" y="1164826"/>
                  </a:lnTo>
                  <a:lnTo>
                    <a:pt x="0" y="1158736"/>
                  </a:lnTo>
                  <a:lnTo>
                    <a:pt x="0" y="1152405"/>
                  </a:lnTo>
                  <a:lnTo>
                    <a:pt x="0" y="41412"/>
                  </a:lnTo>
                  <a:lnTo>
                    <a:pt x="23623" y="6056"/>
                  </a:lnTo>
                  <a:lnTo>
                    <a:pt x="41412" y="0"/>
                  </a:lnTo>
                  <a:lnTo>
                    <a:pt x="4987786" y="0"/>
                  </a:lnTo>
                  <a:lnTo>
                    <a:pt x="5023141" y="23622"/>
                  </a:lnTo>
                  <a:lnTo>
                    <a:pt x="5029199" y="41412"/>
                  </a:lnTo>
                  <a:lnTo>
                    <a:pt x="5029199" y="1158736"/>
                  </a:lnTo>
                  <a:lnTo>
                    <a:pt x="5005575" y="1194091"/>
                  </a:lnTo>
                  <a:lnTo>
                    <a:pt x="4993876" y="1198937"/>
                  </a:lnTo>
                  <a:lnTo>
                    <a:pt x="4987786" y="120014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04837" y="7434261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0" y="1152405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7" y="23622"/>
                  </a:lnTo>
                  <a:lnTo>
                    <a:pt x="9506" y="18459"/>
                  </a:lnTo>
                  <a:lnTo>
                    <a:pt x="13983" y="13983"/>
                  </a:lnTo>
                  <a:lnTo>
                    <a:pt x="18460" y="9506"/>
                  </a:lnTo>
                  <a:lnTo>
                    <a:pt x="23623" y="6056"/>
                  </a:lnTo>
                  <a:lnTo>
                    <a:pt x="29473" y="3633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4981455" y="0"/>
                  </a:lnTo>
                  <a:lnTo>
                    <a:pt x="4987786" y="0"/>
                  </a:lnTo>
                  <a:lnTo>
                    <a:pt x="4993876" y="1211"/>
                  </a:lnTo>
                  <a:lnTo>
                    <a:pt x="4999726" y="3633"/>
                  </a:lnTo>
                  <a:lnTo>
                    <a:pt x="5005575" y="6056"/>
                  </a:lnTo>
                  <a:lnTo>
                    <a:pt x="5010738" y="9506"/>
                  </a:lnTo>
                  <a:lnTo>
                    <a:pt x="5015215" y="13983"/>
                  </a:lnTo>
                  <a:lnTo>
                    <a:pt x="5019692" y="18459"/>
                  </a:lnTo>
                  <a:lnTo>
                    <a:pt x="5029199" y="47744"/>
                  </a:lnTo>
                  <a:lnTo>
                    <a:pt x="5029199" y="1152405"/>
                  </a:lnTo>
                  <a:lnTo>
                    <a:pt x="5010738" y="1190641"/>
                  </a:lnTo>
                  <a:lnTo>
                    <a:pt x="4981455" y="1200149"/>
                  </a:lnTo>
                  <a:lnTo>
                    <a:pt x="47744" y="1200149"/>
                  </a:lnTo>
                  <a:lnTo>
                    <a:pt x="9507" y="1181688"/>
                  </a:lnTo>
                  <a:lnTo>
                    <a:pt x="3634" y="1170675"/>
                  </a:lnTo>
                  <a:lnTo>
                    <a:pt x="1211" y="1164826"/>
                  </a:lnTo>
                  <a:lnTo>
                    <a:pt x="0" y="1158736"/>
                  </a:lnTo>
                  <a:lnTo>
                    <a:pt x="0" y="1152405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82021" y="2290891"/>
            <a:ext cx="3963014" cy="71109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CFD0D8"/>
                </a:solidFill>
                <a:latin typeface="Roboto Lt"/>
                <a:cs typeface="Roboto Lt"/>
              </a:rPr>
              <a:t>CEO</a:t>
            </a:r>
            <a:r>
              <a:rPr sz="2000" spc="2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CFD0D8"/>
                </a:solidFill>
                <a:latin typeface="Roboto Lt"/>
                <a:cs typeface="Roboto Lt"/>
              </a:rPr>
              <a:t>/</a:t>
            </a:r>
            <a:r>
              <a:rPr sz="2000" spc="2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CFD0D8"/>
                </a:solidFill>
                <a:latin typeface="Roboto Lt"/>
                <a:cs typeface="Roboto Lt"/>
              </a:rPr>
              <a:t>Project</a:t>
            </a:r>
            <a:r>
              <a:rPr sz="2000" spc="2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2000" spc="-20" dirty="0">
                <a:solidFill>
                  <a:srgbClr val="CFD0D8"/>
                </a:solidFill>
                <a:latin typeface="Roboto Lt"/>
                <a:cs typeface="Roboto Lt"/>
              </a:rPr>
              <a:t>Lead</a:t>
            </a:r>
            <a:endParaRPr sz="200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lang="en-US" sz="1600" dirty="0">
                <a:solidFill>
                  <a:srgbClr val="CFD0D8"/>
                </a:solidFill>
                <a:latin typeface="Roboto"/>
                <a:cs typeface="Roboto"/>
              </a:rPr>
              <a:t>Temur Abdullayev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2020" y="3393098"/>
            <a:ext cx="6885579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CFD0D8"/>
                </a:solidFill>
                <a:latin typeface="Roboto"/>
                <a:cs typeface="Roboto"/>
              </a:rPr>
              <a:t>Startup</a:t>
            </a:r>
            <a:r>
              <a:rPr sz="16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CFD0D8"/>
                </a:solidFill>
                <a:latin typeface="Roboto"/>
                <a:cs typeface="Roboto"/>
              </a:rPr>
              <a:t>strategiyasi,</a:t>
            </a:r>
            <a:r>
              <a:rPr sz="16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CFD0D8"/>
                </a:solidFill>
                <a:latin typeface="Roboto"/>
                <a:cs typeface="Roboto"/>
              </a:rPr>
              <a:t>Product</a:t>
            </a:r>
            <a:r>
              <a:rPr sz="160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CFD0D8"/>
                </a:solidFill>
                <a:latin typeface="Roboto"/>
                <a:cs typeface="Roboto"/>
              </a:rPr>
              <a:t>Pitch,</a:t>
            </a:r>
            <a:r>
              <a:rPr sz="16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CFD0D8"/>
                </a:solidFill>
                <a:latin typeface="Roboto"/>
                <a:cs typeface="Roboto"/>
              </a:rPr>
              <a:t>Business</a:t>
            </a:r>
            <a:r>
              <a:rPr sz="160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CFD0D8"/>
                </a:solidFill>
                <a:latin typeface="Roboto"/>
                <a:cs typeface="Roboto"/>
              </a:rPr>
              <a:t>Development</a:t>
            </a:r>
            <a:endParaRPr sz="1600" dirty="0">
              <a:latin typeface="Roboto"/>
              <a:cs typeface="Roboto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876211" y="5839763"/>
            <a:ext cx="5038725" cy="1209675"/>
            <a:chOff x="5791198" y="7429499"/>
            <a:chExt cx="5038725" cy="1209675"/>
          </a:xfrm>
        </p:grpSpPr>
        <p:sp>
          <p:nvSpPr>
            <p:cNvPr id="59" name="object 59"/>
            <p:cNvSpPr/>
            <p:nvPr/>
          </p:nvSpPr>
          <p:spPr>
            <a:xfrm>
              <a:off x="5795961" y="7434261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4987787" y="1200149"/>
                  </a:moveTo>
                  <a:lnTo>
                    <a:pt x="41413" y="1200149"/>
                  </a:lnTo>
                  <a:lnTo>
                    <a:pt x="35322" y="1198937"/>
                  </a:lnTo>
                  <a:lnTo>
                    <a:pt x="1211" y="1164826"/>
                  </a:lnTo>
                  <a:lnTo>
                    <a:pt x="0" y="1158736"/>
                  </a:lnTo>
                  <a:lnTo>
                    <a:pt x="0" y="1152405"/>
                  </a:lnTo>
                  <a:lnTo>
                    <a:pt x="0" y="41412"/>
                  </a:lnTo>
                  <a:lnTo>
                    <a:pt x="23624" y="6056"/>
                  </a:lnTo>
                  <a:lnTo>
                    <a:pt x="41413" y="0"/>
                  </a:lnTo>
                  <a:lnTo>
                    <a:pt x="4987787" y="0"/>
                  </a:lnTo>
                  <a:lnTo>
                    <a:pt x="5023142" y="23622"/>
                  </a:lnTo>
                  <a:lnTo>
                    <a:pt x="5029199" y="41412"/>
                  </a:lnTo>
                  <a:lnTo>
                    <a:pt x="5029199" y="1158736"/>
                  </a:lnTo>
                  <a:lnTo>
                    <a:pt x="5005574" y="1194091"/>
                  </a:lnTo>
                  <a:lnTo>
                    <a:pt x="4993876" y="1198937"/>
                  </a:lnTo>
                  <a:lnTo>
                    <a:pt x="4987787" y="120014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95961" y="7434261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0" y="1152405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7" y="23622"/>
                  </a:lnTo>
                  <a:lnTo>
                    <a:pt x="9507" y="18459"/>
                  </a:lnTo>
                  <a:lnTo>
                    <a:pt x="13984" y="13983"/>
                  </a:lnTo>
                  <a:lnTo>
                    <a:pt x="18461" y="9506"/>
                  </a:lnTo>
                  <a:lnTo>
                    <a:pt x="23624" y="6056"/>
                  </a:lnTo>
                  <a:lnTo>
                    <a:pt x="29473" y="3633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4981456" y="0"/>
                  </a:lnTo>
                  <a:lnTo>
                    <a:pt x="4987787" y="0"/>
                  </a:lnTo>
                  <a:lnTo>
                    <a:pt x="4993876" y="1211"/>
                  </a:lnTo>
                  <a:lnTo>
                    <a:pt x="5025564" y="29472"/>
                  </a:lnTo>
                  <a:lnTo>
                    <a:pt x="5027987" y="35321"/>
                  </a:lnTo>
                  <a:lnTo>
                    <a:pt x="5029199" y="41412"/>
                  </a:lnTo>
                  <a:lnTo>
                    <a:pt x="5029200" y="47744"/>
                  </a:lnTo>
                  <a:lnTo>
                    <a:pt x="5029200" y="1152405"/>
                  </a:lnTo>
                  <a:lnTo>
                    <a:pt x="5029199" y="1158736"/>
                  </a:lnTo>
                  <a:lnTo>
                    <a:pt x="5027987" y="1164826"/>
                  </a:lnTo>
                  <a:lnTo>
                    <a:pt x="5025564" y="1170675"/>
                  </a:lnTo>
                  <a:lnTo>
                    <a:pt x="5023142" y="1176525"/>
                  </a:lnTo>
                  <a:lnTo>
                    <a:pt x="4987787" y="1200149"/>
                  </a:lnTo>
                  <a:lnTo>
                    <a:pt x="4981456" y="1200149"/>
                  </a:lnTo>
                  <a:lnTo>
                    <a:pt x="47744" y="1200149"/>
                  </a:lnTo>
                  <a:lnTo>
                    <a:pt x="9507" y="1181688"/>
                  </a:lnTo>
                  <a:lnTo>
                    <a:pt x="3634" y="1170675"/>
                  </a:lnTo>
                  <a:lnTo>
                    <a:pt x="1211" y="1164826"/>
                  </a:lnTo>
                  <a:lnTo>
                    <a:pt x="0" y="1158736"/>
                  </a:lnTo>
                  <a:lnTo>
                    <a:pt x="0" y="1152405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014007" y="6023551"/>
            <a:ext cx="1666239" cy="3699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lang="en-US" sz="1150" dirty="0">
                <a:solidFill>
                  <a:srgbClr val="CFD0D8"/>
                </a:solidFill>
                <a:latin typeface="Roboto"/>
                <a:cs typeface="Roboto"/>
              </a:rPr>
              <a:t>FULL STACK ENGINEER</a:t>
            </a:r>
            <a:br>
              <a:rPr lang="en-US" sz="1150" dirty="0">
                <a:solidFill>
                  <a:srgbClr val="CFD0D8"/>
                </a:solidFill>
                <a:latin typeface="Roboto"/>
                <a:cs typeface="Roboto"/>
              </a:rPr>
            </a:b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[</a:t>
            </a:r>
            <a:r>
              <a:rPr lang="en-US" sz="1150" dirty="0" err="1">
                <a:solidFill>
                  <a:srgbClr val="CFD0D8"/>
                </a:solidFill>
                <a:latin typeface="Roboto"/>
                <a:cs typeface="Roboto"/>
              </a:rPr>
              <a:t>Muxriddin</a:t>
            </a:r>
            <a:r>
              <a:rPr lang="en-US" sz="1150" dirty="0">
                <a:solidFill>
                  <a:srgbClr val="CFD0D8"/>
                </a:solidFill>
                <a:latin typeface="Roboto"/>
                <a:cs typeface="Roboto"/>
              </a:rPr>
              <a:t> Rustamov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]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014007" y="6627040"/>
            <a:ext cx="360807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integration,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Backend,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architecture,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analytics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87350" y="5835001"/>
            <a:ext cx="5038725" cy="1209675"/>
            <a:chOff x="600074" y="8791574"/>
            <a:chExt cx="5038725" cy="1209675"/>
          </a:xfrm>
        </p:grpSpPr>
        <p:sp>
          <p:nvSpPr>
            <p:cNvPr id="64" name="object 64"/>
            <p:cNvSpPr/>
            <p:nvPr/>
          </p:nvSpPr>
          <p:spPr>
            <a:xfrm>
              <a:off x="604837" y="8796336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4987786" y="1200148"/>
                  </a:moveTo>
                  <a:lnTo>
                    <a:pt x="41412" y="1200148"/>
                  </a:lnTo>
                  <a:lnTo>
                    <a:pt x="35322" y="1198937"/>
                  </a:lnTo>
                  <a:lnTo>
                    <a:pt x="1211" y="1164826"/>
                  </a:lnTo>
                  <a:lnTo>
                    <a:pt x="0" y="1158737"/>
                  </a:lnTo>
                  <a:lnTo>
                    <a:pt x="0" y="1152406"/>
                  </a:lnTo>
                  <a:lnTo>
                    <a:pt x="0" y="41412"/>
                  </a:lnTo>
                  <a:lnTo>
                    <a:pt x="23623" y="6056"/>
                  </a:lnTo>
                  <a:lnTo>
                    <a:pt x="41412" y="0"/>
                  </a:lnTo>
                  <a:lnTo>
                    <a:pt x="4987786" y="0"/>
                  </a:lnTo>
                  <a:lnTo>
                    <a:pt x="5023141" y="23622"/>
                  </a:lnTo>
                  <a:lnTo>
                    <a:pt x="5029199" y="41412"/>
                  </a:lnTo>
                  <a:lnTo>
                    <a:pt x="5029199" y="1158737"/>
                  </a:lnTo>
                  <a:lnTo>
                    <a:pt x="5005575" y="1194090"/>
                  </a:lnTo>
                  <a:lnTo>
                    <a:pt x="4993876" y="1198937"/>
                  </a:lnTo>
                  <a:lnTo>
                    <a:pt x="4987786" y="1200148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4837" y="8796336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0" y="1152406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7" y="23622"/>
                  </a:lnTo>
                  <a:lnTo>
                    <a:pt x="9506" y="18459"/>
                  </a:lnTo>
                  <a:lnTo>
                    <a:pt x="13983" y="13983"/>
                  </a:lnTo>
                  <a:lnTo>
                    <a:pt x="18460" y="9506"/>
                  </a:lnTo>
                  <a:lnTo>
                    <a:pt x="23623" y="6056"/>
                  </a:lnTo>
                  <a:lnTo>
                    <a:pt x="29473" y="3633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4981455" y="0"/>
                  </a:lnTo>
                  <a:lnTo>
                    <a:pt x="4987786" y="0"/>
                  </a:lnTo>
                  <a:lnTo>
                    <a:pt x="4993876" y="1211"/>
                  </a:lnTo>
                  <a:lnTo>
                    <a:pt x="4999726" y="3633"/>
                  </a:lnTo>
                  <a:lnTo>
                    <a:pt x="5005575" y="6056"/>
                  </a:lnTo>
                  <a:lnTo>
                    <a:pt x="5010738" y="9506"/>
                  </a:lnTo>
                  <a:lnTo>
                    <a:pt x="5015215" y="13983"/>
                  </a:lnTo>
                  <a:lnTo>
                    <a:pt x="5019692" y="18459"/>
                  </a:lnTo>
                  <a:lnTo>
                    <a:pt x="5029199" y="47744"/>
                  </a:lnTo>
                  <a:lnTo>
                    <a:pt x="5029199" y="1152406"/>
                  </a:lnTo>
                  <a:lnTo>
                    <a:pt x="5010738" y="1190641"/>
                  </a:lnTo>
                  <a:lnTo>
                    <a:pt x="4981455" y="1200149"/>
                  </a:lnTo>
                  <a:lnTo>
                    <a:pt x="47744" y="1200149"/>
                  </a:lnTo>
                  <a:lnTo>
                    <a:pt x="41412" y="1200148"/>
                  </a:lnTo>
                  <a:lnTo>
                    <a:pt x="35322" y="1198937"/>
                  </a:lnTo>
                  <a:lnTo>
                    <a:pt x="29473" y="1196514"/>
                  </a:lnTo>
                  <a:lnTo>
                    <a:pt x="23623" y="1194092"/>
                  </a:lnTo>
                  <a:lnTo>
                    <a:pt x="0" y="1158737"/>
                  </a:lnTo>
                  <a:lnTo>
                    <a:pt x="0" y="1152406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534194" y="5968224"/>
            <a:ext cx="4127500" cy="890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50" dirty="0">
                <a:solidFill>
                  <a:srgbClr val="CFD0D8"/>
                </a:solidFill>
                <a:latin typeface="Roboto Lt"/>
                <a:cs typeface="Roboto Lt"/>
              </a:rPr>
              <a:t>V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R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Developer</a:t>
            </a:r>
            <a:endParaRPr sz="145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[</a:t>
            </a:r>
            <a:r>
              <a:rPr lang="en-US" sz="1150" dirty="0">
                <a:solidFill>
                  <a:srgbClr val="CFD0D8"/>
                </a:solidFill>
                <a:latin typeface="Roboto"/>
                <a:cs typeface="Roboto"/>
              </a:rPr>
              <a:t>Fayzullayev Hamidullo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]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VR,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Unity/Unreal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Engine,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3D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interaction,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Spatial</a:t>
            </a:r>
            <a:r>
              <a:rPr sz="1150" spc="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experience</a:t>
            </a:r>
            <a:endParaRPr sz="1150" dirty="0">
              <a:latin typeface="Roboto"/>
              <a:cs typeface="Roboto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94375" y="8568459"/>
            <a:ext cx="5038725" cy="1209675"/>
            <a:chOff x="5791198" y="8791574"/>
            <a:chExt cx="5038725" cy="1209675"/>
          </a:xfrm>
        </p:grpSpPr>
        <p:sp>
          <p:nvSpPr>
            <p:cNvPr id="68" name="object 68"/>
            <p:cNvSpPr/>
            <p:nvPr/>
          </p:nvSpPr>
          <p:spPr>
            <a:xfrm>
              <a:off x="5795961" y="8796336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4987787" y="1200148"/>
                  </a:moveTo>
                  <a:lnTo>
                    <a:pt x="41413" y="1200148"/>
                  </a:lnTo>
                  <a:lnTo>
                    <a:pt x="35322" y="1198937"/>
                  </a:lnTo>
                  <a:lnTo>
                    <a:pt x="1211" y="1164826"/>
                  </a:lnTo>
                  <a:lnTo>
                    <a:pt x="0" y="1158737"/>
                  </a:lnTo>
                  <a:lnTo>
                    <a:pt x="0" y="1152406"/>
                  </a:lnTo>
                  <a:lnTo>
                    <a:pt x="0" y="41412"/>
                  </a:lnTo>
                  <a:lnTo>
                    <a:pt x="23624" y="6056"/>
                  </a:lnTo>
                  <a:lnTo>
                    <a:pt x="41413" y="0"/>
                  </a:lnTo>
                  <a:lnTo>
                    <a:pt x="4987787" y="0"/>
                  </a:lnTo>
                  <a:lnTo>
                    <a:pt x="5023142" y="23622"/>
                  </a:lnTo>
                  <a:lnTo>
                    <a:pt x="5029199" y="41412"/>
                  </a:lnTo>
                  <a:lnTo>
                    <a:pt x="5029199" y="1158737"/>
                  </a:lnTo>
                  <a:lnTo>
                    <a:pt x="5005574" y="1194090"/>
                  </a:lnTo>
                  <a:lnTo>
                    <a:pt x="4993876" y="1198937"/>
                  </a:lnTo>
                  <a:lnTo>
                    <a:pt x="4987787" y="1200148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95961" y="8796336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0" y="1152406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7" y="23622"/>
                  </a:lnTo>
                  <a:lnTo>
                    <a:pt x="9507" y="18459"/>
                  </a:lnTo>
                  <a:lnTo>
                    <a:pt x="13984" y="13983"/>
                  </a:lnTo>
                  <a:lnTo>
                    <a:pt x="18461" y="9506"/>
                  </a:lnTo>
                  <a:lnTo>
                    <a:pt x="23624" y="6056"/>
                  </a:lnTo>
                  <a:lnTo>
                    <a:pt x="29473" y="3633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4981456" y="0"/>
                  </a:lnTo>
                  <a:lnTo>
                    <a:pt x="4987787" y="0"/>
                  </a:lnTo>
                  <a:lnTo>
                    <a:pt x="4993876" y="1211"/>
                  </a:lnTo>
                  <a:lnTo>
                    <a:pt x="5025564" y="29472"/>
                  </a:lnTo>
                  <a:lnTo>
                    <a:pt x="5027987" y="35321"/>
                  </a:lnTo>
                  <a:lnTo>
                    <a:pt x="5029199" y="41412"/>
                  </a:lnTo>
                  <a:lnTo>
                    <a:pt x="5029200" y="47744"/>
                  </a:lnTo>
                  <a:lnTo>
                    <a:pt x="5029200" y="1152406"/>
                  </a:lnTo>
                  <a:lnTo>
                    <a:pt x="5029199" y="1158737"/>
                  </a:lnTo>
                  <a:lnTo>
                    <a:pt x="5027987" y="1164826"/>
                  </a:lnTo>
                  <a:lnTo>
                    <a:pt x="5025564" y="1170674"/>
                  </a:lnTo>
                  <a:lnTo>
                    <a:pt x="5023142" y="1176524"/>
                  </a:lnTo>
                  <a:lnTo>
                    <a:pt x="4987787" y="1200148"/>
                  </a:lnTo>
                  <a:lnTo>
                    <a:pt x="4981456" y="1200149"/>
                  </a:lnTo>
                  <a:lnTo>
                    <a:pt x="47744" y="1200149"/>
                  </a:lnTo>
                  <a:lnTo>
                    <a:pt x="41413" y="1200148"/>
                  </a:lnTo>
                  <a:lnTo>
                    <a:pt x="35322" y="1198937"/>
                  </a:lnTo>
                  <a:lnTo>
                    <a:pt x="29473" y="1196514"/>
                  </a:lnTo>
                  <a:lnTo>
                    <a:pt x="23624" y="1194092"/>
                  </a:lnTo>
                  <a:lnTo>
                    <a:pt x="3634" y="1170676"/>
                  </a:lnTo>
                  <a:lnTo>
                    <a:pt x="1211" y="1164826"/>
                  </a:lnTo>
                  <a:lnTo>
                    <a:pt x="0" y="1158737"/>
                  </a:lnTo>
                  <a:lnTo>
                    <a:pt x="0" y="1152406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5940029" y="8701682"/>
            <a:ext cx="3080385" cy="890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UI/UX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dirty="0">
                <a:solidFill>
                  <a:srgbClr val="CFD0D8"/>
                </a:solidFill>
                <a:latin typeface="Roboto Lt"/>
                <a:cs typeface="Roboto Lt"/>
              </a:rPr>
              <a:t>+</a:t>
            </a:r>
            <a:r>
              <a:rPr sz="1450" spc="-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450" spc="-10" dirty="0">
                <a:solidFill>
                  <a:srgbClr val="CFD0D8"/>
                </a:solidFill>
                <a:latin typeface="Roboto Lt"/>
                <a:cs typeface="Roboto Lt"/>
              </a:rPr>
              <a:t>Business</a:t>
            </a:r>
            <a:endParaRPr sz="145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[</a:t>
            </a:r>
            <a:r>
              <a:rPr lang="en-US" sz="1150" dirty="0" err="1">
                <a:solidFill>
                  <a:srgbClr val="CFD0D8"/>
                </a:solidFill>
                <a:latin typeface="Roboto"/>
                <a:cs typeface="Roboto"/>
              </a:rPr>
              <a:t>Gaybullayev</a:t>
            </a:r>
            <a:r>
              <a:rPr lang="en-US" sz="11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lang="en-US" sz="1150" dirty="0" err="1">
                <a:solidFill>
                  <a:srgbClr val="CFD0D8"/>
                </a:solidFill>
                <a:latin typeface="Roboto"/>
                <a:cs typeface="Roboto"/>
              </a:rPr>
              <a:t>Diyorbek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]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Product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design,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UX,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Branding,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Business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model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09203" y="10294778"/>
            <a:ext cx="4451985" cy="5016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"Biz</a:t>
            </a:r>
            <a:r>
              <a:rPr sz="1150" b="1" spc="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xodimlarni</a:t>
            </a:r>
            <a:r>
              <a:rPr sz="1150" b="1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xavfdan</a:t>
            </a:r>
            <a:r>
              <a:rPr sz="1150" b="1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keyin</a:t>
            </a:r>
            <a:r>
              <a:rPr sz="1150" b="1" spc="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emas,</a:t>
            </a:r>
            <a:r>
              <a:rPr sz="1150" b="1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xavfdan</a:t>
            </a:r>
            <a:r>
              <a:rPr sz="1150" b="1" spc="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dirty="0">
                <a:solidFill>
                  <a:srgbClr val="CFD0D8"/>
                </a:solidFill>
                <a:latin typeface="Roboto"/>
                <a:cs typeface="Roboto"/>
              </a:rPr>
              <a:t>OLDIN</a:t>
            </a:r>
            <a:r>
              <a:rPr sz="1150" b="1" spc="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b="1" spc="-10" dirty="0">
                <a:solidFill>
                  <a:srgbClr val="CFD0D8"/>
                </a:solidFill>
                <a:latin typeface="Roboto"/>
                <a:cs typeface="Roboto"/>
              </a:rPr>
              <a:t>tayyorlaymiz."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n-US" sz="1150" spc="25" dirty="0" err="1">
                <a:solidFill>
                  <a:srgbClr val="CFD0D8"/>
                </a:solidFill>
                <a:latin typeface="Roboto"/>
                <a:cs typeface="Roboto"/>
              </a:rPr>
              <a:t>SafetyLab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—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AI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lang="en-US" sz="1150" spc="25" dirty="0">
                <a:solidFill>
                  <a:srgbClr val="CFD0D8"/>
                </a:solidFill>
                <a:latin typeface="Roboto"/>
                <a:cs typeface="Roboto"/>
              </a:rPr>
              <a:t>V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R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Industrial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Safety</a:t>
            </a:r>
            <a:r>
              <a:rPr sz="1150" spc="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+</a:t>
            </a:r>
            <a:r>
              <a:rPr sz="1150" spc="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Adaptive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Training</a:t>
            </a:r>
            <a:endParaRPr sz="1150" dirty="0">
              <a:latin typeface="Roboto"/>
              <a:cs typeface="Robot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96874" y="10172699"/>
            <a:ext cx="19050" cy="819150"/>
          </a:xfrm>
          <a:custGeom>
            <a:avLst/>
            <a:gdLst/>
            <a:ahLst/>
            <a:cxnLst/>
            <a:rect l="l" t="t" r="r" b="b"/>
            <a:pathLst>
              <a:path w="19050" h="819150">
                <a:moveTo>
                  <a:pt x="12155" y="819148"/>
                </a:moveTo>
                <a:lnTo>
                  <a:pt x="6894" y="819148"/>
                </a:lnTo>
                <a:lnTo>
                  <a:pt x="4649" y="818218"/>
                </a:lnTo>
                <a:lnTo>
                  <a:pt x="929" y="814500"/>
                </a:lnTo>
                <a:lnTo>
                  <a:pt x="0" y="812254"/>
                </a:lnTo>
                <a:lnTo>
                  <a:pt x="0" y="809624"/>
                </a:lnTo>
                <a:lnTo>
                  <a:pt x="0" y="6893"/>
                </a:lnTo>
                <a:lnTo>
                  <a:pt x="929" y="4648"/>
                </a:lnTo>
                <a:lnTo>
                  <a:pt x="4649" y="928"/>
                </a:lnTo>
                <a:lnTo>
                  <a:pt x="6894" y="0"/>
                </a:lnTo>
                <a:lnTo>
                  <a:pt x="12155" y="0"/>
                </a:lnTo>
                <a:lnTo>
                  <a:pt x="14400" y="928"/>
                </a:lnTo>
                <a:lnTo>
                  <a:pt x="18120" y="4648"/>
                </a:lnTo>
                <a:lnTo>
                  <a:pt x="19050" y="6893"/>
                </a:lnTo>
                <a:lnTo>
                  <a:pt x="19050" y="812254"/>
                </a:lnTo>
                <a:lnTo>
                  <a:pt x="18120" y="814500"/>
                </a:lnTo>
                <a:lnTo>
                  <a:pt x="14400" y="818218"/>
                </a:lnTo>
                <a:lnTo>
                  <a:pt x="12155" y="819148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6" name="object 67">
            <a:extLst>
              <a:ext uri="{FF2B5EF4-FFF2-40B4-BE49-F238E27FC236}">
                <a16:creationId xmlns:a16="http://schemas.microsoft.com/office/drawing/2014/main" id="{8731B78B-593A-4E0B-918C-F2121976442B}"/>
              </a:ext>
            </a:extLst>
          </p:cNvPr>
          <p:cNvGrpSpPr/>
          <p:nvPr/>
        </p:nvGrpSpPr>
        <p:grpSpPr>
          <a:xfrm>
            <a:off x="392113" y="8544173"/>
            <a:ext cx="5038725" cy="1209675"/>
            <a:chOff x="5791198" y="8791574"/>
            <a:chExt cx="5038725" cy="1209675"/>
          </a:xfrm>
        </p:grpSpPr>
        <p:sp>
          <p:nvSpPr>
            <p:cNvPr id="77" name="object 68">
              <a:extLst>
                <a:ext uri="{FF2B5EF4-FFF2-40B4-BE49-F238E27FC236}">
                  <a16:creationId xmlns:a16="http://schemas.microsoft.com/office/drawing/2014/main" id="{CE53AF80-6139-4D4B-9869-A029CD29B77A}"/>
                </a:ext>
              </a:extLst>
            </p:cNvPr>
            <p:cNvSpPr/>
            <p:nvPr/>
          </p:nvSpPr>
          <p:spPr>
            <a:xfrm>
              <a:off x="5795961" y="8796336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4987787" y="1200148"/>
                  </a:moveTo>
                  <a:lnTo>
                    <a:pt x="41413" y="1200148"/>
                  </a:lnTo>
                  <a:lnTo>
                    <a:pt x="35322" y="1198937"/>
                  </a:lnTo>
                  <a:lnTo>
                    <a:pt x="1211" y="1164826"/>
                  </a:lnTo>
                  <a:lnTo>
                    <a:pt x="0" y="1158737"/>
                  </a:lnTo>
                  <a:lnTo>
                    <a:pt x="0" y="1152406"/>
                  </a:lnTo>
                  <a:lnTo>
                    <a:pt x="0" y="41412"/>
                  </a:lnTo>
                  <a:lnTo>
                    <a:pt x="23624" y="6056"/>
                  </a:lnTo>
                  <a:lnTo>
                    <a:pt x="41413" y="0"/>
                  </a:lnTo>
                  <a:lnTo>
                    <a:pt x="4987787" y="0"/>
                  </a:lnTo>
                  <a:lnTo>
                    <a:pt x="5023142" y="23622"/>
                  </a:lnTo>
                  <a:lnTo>
                    <a:pt x="5029199" y="41412"/>
                  </a:lnTo>
                  <a:lnTo>
                    <a:pt x="5029199" y="1158737"/>
                  </a:lnTo>
                  <a:lnTo>
                    <a:pt x="5005574" y="1194090"/>
                  </a:lnTo>
                  <a:lnTo>
                    <a:pt x="4993876" y="1198937"/>
                  </a:lnTo>
                  <a:lnTo>
                    <a:pt x="4987787" y="1200148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69">
              <a:extLst>
                <a:ext uri="{FF2B5EF4-FFF2-40B4-BE49-F238E27FC236}">
                  <a16:creationId xmlns:a16="http://schemas.microsoft.com/office/drawing/2014/main" id="{DE90F448-805A-42C3-8661-D8EB5135FE9A}"/>
                </a:ext>
              </a:extLst>
            </p:cNvPr>
            <p:cNvSpPr/>
            <p:nvPr/>
          </p:nvSpPr>
          <p:spPr>
            <a:xfrm>
              <a:off x="5795961" y="8796336"/>
              <a:ext cx="5029200" cy="1200150"/>
            </a:xfrm>
            <a:custGeom>
              <a:avLst/>
              <a:gdLst/>
              <a:ahLst/>
              <a:cxnLst/>
              <a:rect l="l" t="t" r="r" b="b"/>
              <a:pathLst>
                <a:path w="5029200" h="1200150">
                  <a:moveTo>
                    <a:pt x="0" y="1152406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1"/>
                  </a:lnTo>
                  <a:lnTo>
                    <a:pt x="3634" y="29472"/>
                  </a:lnTo>
                  <a:lnTo>
                    <a:pt x="6057" y="23622"/>
                  </a:lnTo>
                  <a:lnTo>
                    <a:pt x="9507" y="18459"/>
                  </a:lnTo>
                  <a:lnTo>
                    <a:pt x="13984" y="13983"/>
                  </a:lnTo>
                  <a:lnTo>
                    <a:pt x="18461" y="9506"/>
                  </a:lnTo>
                  <a:lnTo>
                    <a:pt x="23624" y="6056"/>
                  </a:lnTo>
                  <a:lnTo>
                    <a:pt x="29473" y="3633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4981456" y="0"/>
                  </a:lnTo>
                  <a:lnTo>
                    <a:pt x="4987787" y="0"/>
                  </a:lnTo>
                  <a:lnTo>
                    <a:pt x="4993876" y="1211"/>
                  </a:lnTo>
                  <a:lnTo>
                    <a:pt x="5025564" y="29472"/>
                  </a:lnTo>
                  <a:lnTo>
                    <a:pt x="5027987" y="35321"/>
                  </a:lnTo>
                  <a:lnTo>
                    <a:pt x="5029199" y="41412"/>
                  </a:lnTo>
                  <a:lnTo>
                    <a:pt x="5029200" y="47744"/>
                  </a:lnTo>
                  <a:lnTo>
                    <a:pt x="5029200" y="1152406"/>
                  </a:lnTo>
                  <a:lnTo>
                    <a:pt x="5029199" y="1158737"/>
                  </a:lnTo>
                  <a:lnTo>
                    <a:pt x="5027987" y="1164826"/>
                  </a:lnTo>
                  <a:lnTo>
                    <a:pt x="5025564" y="1170674"/>
                  </a:lnTo>
                  <a:lnTo>
                    <a:pt x="5023142" y="1176524"/>
                  </a:lnTo>
                  <a:lnTo>
                    <a:pt x="4987787" y="1200148"/>
                  </a:lnTo>
                  <a:lnTo>
                    <a:pt x="4981456" y="1200149"/>
                  </a:lnTo>
                  <a:lnTo>
                    <a:pt x="47744" y="1200149"/>
                  </a:lnTo>
                  <a:lnTo>
                    <a:pt x="41413" y="1200148"/>
                  </a:lnTo>
                  <a:lnTo>
                    <a:pt x="35322" y="1198937"/>
                  </a:lnTo>
                  <a:lnTo>
                    <a:pt x="29473" y="1196514"/>
                  </a:lnTo>
                  <a:lnTo>
                    <a:pt x="23624" y="1194092"/>
                  </a:lnTo>
                  <a:lnTo>
                    <a:pt x="3634" y="1170676"/>
                  </a:lnTo>
                  <a:lnTo>
                    <a:pt x="1211" y="1164826"/>
                  </a:lnTo>
                  <a:lnTo>
                    <a:pt x="0" y="1158737"/>
                  </a:lnTo>
                  <a:lnTo>
                    <a:pt x="0" y="1152406"/>
                  </a:lnTo>
                  <a:close/>
                </a:path>
              </a:pathLst>
            </a:custGeom>
            <a:ln w="9524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0">
            <a:extLst>
              <a:ext uri="{FF2B5EF4-FFF2-40B4-BE49-F238E27FC236}">
                <a16:creationId xmlns:a16="http://schemas.microsoft.com/office/drawing/2014/main" id="{1B83334C-C6A8-4C5B-9534-1E6604882660}"/>
              </a:ext>
            </a:extLst>
          </p:cNvPr>
          <p:cNvSpPr txBox="1"/>
          <p:nvPr/>
        </p:nvSpPr>
        <p:spPr>
          <a:xfrm>
            <a:off x="614990" y="8724250"/>
            <a:ext cx="3080385" cy="8880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1450" dirty="0">
                <a:solidFill>
                  <a:srgbClr val="CFD0D8"/>
                </a:solidFill>
                <a:latin typeface="Roboto Lt"/>
                <a:cs typeface="Roboto Lt"/>
              </a:rPr>
              <a:t>CTO</a:t>
            </a:r>
            <a:r>
              <a:rPr lang="en-US" sz="1450" spc="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lang="en-US" sz="1450" dirty="0">
                <a:solidFill>
                  <a:srgbClr val="CFD0D8"/>
                </a:solidFill>
                <a:latin typeface="Roboto Lt"/>
                <a:cs typeface="Roboto Lt"/>
              </a:rPr>
              <a:t>/</a:t>
            </a:r>
            <a:r>
              <a:rPr lang="en-US" sz="1450" spc="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lang="en-US" sz="1450" dirty="0">
                <a:solidFill>
                  <a:srgbClr val="CFD0D8"/>
                </a:solidFill>
                <a:latin typeface="Roboto Lt"/>
                <a:cs typeface="Roboto Lt"/>
              </a:rPr>
              <a:t>AI</a:t>
            </a:r>
            <a:r>
              <a:rPr lang="en-US" sz="1450" spc="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lang="en-US" sz="1450" dirty="0">
                <a:solidFill>
                  <a:srgbClr val="CFD0D8"/>
                </a:solidFill>
                <a:latin typeface="Roboto Lt"/>
                <a:cs typeface="Roboto Lt"/>
              </a:rPr>
              <a:t>&amp;</a:t>
            </a:r>
            <a:r>
              <a:rPr lang="en-US" sz="1450" spc="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lang="en-US" sz="1450" spc="-10" dirty="0">
                <a:solidFill>
                  <a:srgbClr val="CFD0D8"/>
                </a:solidFill>
                <a:latin typeface="Roboto Lt"/>
                <a:cs typeface="Roboto Lt"/>
              </a:rPr>
              <a:t>Backend</a:t>
            </a:r>
            <a:endParaRPr sz="145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[</a:t>
            </a:r>
            <a:r>
              <a:rPr lang="en-US" sz="1150" dirty="0" err="1">
                <a:solidFill>
                  <a:srgbClr val="CFD0D8"/>
                </a:solidFill>
                <a:latin typeface="Roboto"/>
                <a:cs typeface="Roboto"/>
              </a:rPr>
              <a:t>Gaybullayev</a:t>
            </a:r>
            <a:r>
              <a:rPr lang="en-US" sz="11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lang="en-US" sz="1150" dirty="0" err="1">
                <a:solidFill>
                  <a:srgbClr val="CFD0D8"/>
                </a:solidFill>
                <a:latin typeface="Roboto"/>
                <a:cs typeface="Roboto"/>
              </a:rPr>
              <a:t>Umidjon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]</a:t>
            </a:r>
            <a:endParaRPr sz="11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Product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design,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UX,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Branding,</a:t>
            </a:r>
            <a:r>
              <a:rPr sz="1150" spc="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CFD0D8"/>
                </a:solidFill>
                <a:latin typeface="Roboto"/>
                <a:cs typeface="Roboto"/>
              </a:rPr>
              <a:t>Business</a:t>
            </a:r>
            <a:r>
              <a:rPr sz="1150" spc="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FD0D8"/>
                </a:solidFill>
                <a:latin typeface="Roboto"/>
                <a:cs typeface="Roboto"/>
              </a:rPr>
              <a:t>model</a:t>
            </a:r>
            <a:endParaRPr sz="1150" dirty="0">
              <a:latin typeface="Roboto"/>
              <a:cs typeface="Roboto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DB6DB6-3FD8-455E-9B8F-14DE96A2A2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6670653" y="1279763"/>
            <a:ext cx="2653010" cy="26530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D0A0A47-6B92-4D54-B7DA-D0B727C24F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" t="15024" r="227" b="15024"/>
          <a:stretch/>
        </p:blipFill>
        <p:spPr>
          <a:xfrm>
            <a:off x="2823992" y="4835680"/>
            <a:ext cx="1723781" cy="172378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E0A93CE-474A-4329-8B42-32C73F542AD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4" b="13544"/>
          <a:stretch/>
        </p:blipFill>
        <p:spPr>
          <a:xfrm>
            <a:off x="8395574" y="4828411"/>
            <a:ext cx="1585251" cy="158525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D557592-E476-4040-A8A7-D0728B4E372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3" b="11253"/>
          <a:stretch/>
        </p:blipFill>
        <p:spPr>
          <a:xfrm>
            <a:off x="2827265" y="7430276"/>
            <a:ext cx="1689783" cy="168978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A4BE711-1561-48C3-AE45-80AA6072EA3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1" b="10791"/>
          <a:stretch/>
        </p:blipFill>
        <p:spPr>
          <a:xfrm>
            <a:off x="8395574" y="7659255"/>
            <a:ext cx="1611445" cy="161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2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989</Words>
  <Application>Microsoft Office PowerPoint</Application>
  <PresentationFormat>Произвольный</PresentationFormat>
  <Paragraphs>133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Lucida Sans Unicode</vt:lpstr>
      <vt:lpstr>Roboto</vt:lpstr>
      <vt:lpstr>Roboto Lt</vt:lpstr>
      <vt:lpstr>Segoe UI Symbol</vt:lpstr>
      <vt:lpstr>Office Theme</vt:lpstr>
      <vt:lpstr>SafetyLab</vt:lpstr>
      <vt:lpstr>Biz kimmiz?</vt:lpstr>
      <vt:lpstr>Nega bizga ehtiyoj bor?</vt:lpstr>
      <vt:lpstr>Bozor hajmi va maqsadli auditoriya</vt:lpstr>
      <vt:lpstr>SafetyLab qanday ishlaydi?</vt:lpstr>
      <vt:lpstr>Monetizatsiya modeli</vt:lpstr>
      <vt:lpstr>Milestones — Maqsadlar va KPI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Minesafe xR</dc:title>
  <dc:creator>Hamidullo</dc:creator>
  <cp:lastModifiedBy>Hamidullo Fayzullayev</cp:lastModifiedBy>
  <cp:revision>24</cp:revision>
  <dcterms:created xsi:type="dcterms:W3CDTF">2026-08-11T07:18:48Z</dcterms:created>
  <dcterms:modified xsi:type="dcterms:W3CDTF">2026-08-12T13:48:17Z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2026-08-11T00:00:00Z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2026-08-11T00:00:00Z</vt:filetime>
  </property>
  <property fmtid="{D5CDD505-2E9C-101B-9397-08002B2CF9AE}" pid="6" name="Producer">
    <vt:lpwstr>pdf-lib (https://github.com/Hopding/pdf-lib)</vt:lpwstr>
  </property>
</Properties>
</file>